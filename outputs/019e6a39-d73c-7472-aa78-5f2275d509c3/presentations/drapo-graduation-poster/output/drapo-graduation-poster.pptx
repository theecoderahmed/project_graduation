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54aa5e9c146a7" /><Relationship Type="http://schemas.openxmlformats.org/officeDocument/2006/relationships/extended-properties" Target="/docProps/app.xml" Id="Rfbaa1851ad3449da" /><Relationship Type="http://schemas.openxmlformats.org/officeDocument/2006/relationships/officeDocument" Target="/ppt/presentation.xml" Id="R00a80c172cb447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e0f167aaa4a1f"/>
  </p:sldMasterIdLst>
  <p:notesMasterIdLst>
    <p:notesMasterId xmlns:r="http://schemas.openxmlformats.org/officeDocument/2006/relationships" r:id="R6018eb5543aa47ae"/>
  </p:notesMasterIdLst>
  <p:sldIdLst>
    <p:sldId xmlns:r="http://schemas.openxmlformats.org/officeDocument/2006/relationships" id="256" r:id="Ra74e8b9a1053470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e0f167aaa4a1f" /><Relationship Type="http://schemas.openxmlformats.org/officeDocument/2006/relationships/theme" Target="/ppt/theme/theme1.xml" Id="R8a57afe1fdfc41cc" /><Relationship Type="http://schemas.openxmlformats.org/officeDocument/2006/relationships/notesMaster" Target="/ppt/notesMasters/notesMaster1.xml" Id="R6018eb5543aa47ae" /><Relationship Type="http://schemas.openxmlformats.org/officeDocument/2006/relationships/presProps" Target="/ppt/presProps.xml" Id="Rc0ad879055504b3a" /><Relationship Type="http://schemas.openxmlformats.org/officeDocument/2006/relationships/viewProps" Target="/ppt/viewProps.xml" Id="Rf142aa5100894608" /><Relationship Type="http://schemas.openxmlformats.org/officeDocument/2006/relationships/tableStyles" Target="/ppt/tableStyles.xml" Id="R64bdbb6e7c6e4931" /><Relationship Type="http://schemas.openxmlformats.org/officeDocument/2006/relationships/slide" Target="/ppt/slides/slide1.xml" Id="Ra74e8b9a105347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015a558681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89d1b8b6345c9" /><Relationship Type="http://schemas.openxmlformats.org/officeDocument/2006/relationships/notesMaster" Target="/ppt/notesMasters/notesMaster1.xml" Id="Re2024da3adc146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94737fdfc40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31c657933404e18" /><Relationship Type="http://schemas.openxmlformats.org/officeDocument/2006/relationships/slideLayout" Target="/ppt/slideLayouts/slideLayout2.xml" Id="R306ff86793cf4f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ff86793cf4f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43d75f6e374d18" /><Relationship Type="http://schemas.openxmlformats.org/officeDocument/2006/relationships/image" Target="/ppt/media/image.png" Id="R5c40f53367804d5f" /><Relationship Type="http://schemas.openxmlformats.org/officeDocument/2006/relationships/image" Target="/ppt/media/image.svg" Id="Rd88409ef0cbf4885" /><Relationship Type="http://schemas.openxmlformats.org/officeDocument/2006/relationships/image" Target="/ppt/media/image2.png" Id="R023bab1873584700" /><Relationship Type="http://schemas.openxmlformats.org/officeDocument/2006/relationships/image" Target="/ppt/media/image2.svg" Id="Rafc11d86a00e4e63" /><Relationship Type="http://schemas.openxmlformats.org/officeDocument/2006/relationships/image" Target="/ppt/media/image3.png" Id="Rc1b2ad42259f4d1a" /><Relationship Type="http://schemas.openxmlformats.org/officeDocument/2006/relationships/image" Target="/ppt/media/image3.svg" Id="R7676c32689db4d01" /><Relationship Type="http://schemas.openxmlformats.org/officeDocument/2006/relationships/image" Target="/ppt/media/image4.png" Id="R4fa67726c9164d4a" /><Relationship Type="http://schemas.openxmlformats.org/officeDocument/2006/relationships/image" Target="/ppt/media/image4.svg" Id="R2cd4d099580044b6" /><Relationship Type="http://schemas.openxmlformats.org/officeDocument/2006/relationships/image" Target="/ppt/media/image5.png" Id="Rd8dbfc4b8f6b4612" /><Relationship Type="http://schemas.openxmlformats.org/officeDocument/2006/relationships/image" Target="/ppt/media/image5.svg" Id="Rfbc5b19997ae47b8" /><Relationship Type="http://schemas.openxmlformats.org/officeDocument/2006/relationships/image" Target="/ppt/media/image6.png" Id="Rd1c187ab64f34fc4" /><Relationship Type="http://schemas.openxmlformats.org/officeDocument/2006/relationships/image" Target="/ppt/media/image6.svg" Id="R3c0e8cc7b19d4eb4" /><Relationship Type="http://schemas.openxmlformats.org/officeDocument/2006/relationships/image" Target="/ppt/media/image7.png" Id="Ra8cc0ef57bcf4d06" /><Relationship Type="http://schemas.openxmlformats.org/officeDocument/2006/relationships/image" Target="/ppt/media/image7.svg" Id="Rd4db822d36734044" /><Relationship Type="http://schemas.openxmlformats.org/officeDocument/2006/relationships/image" Target="/ppt/media/image8.png" Id="Rd10055dfe6e34966" /><Relationship Type="http://schemas.openxmlformats.org/officeDocument/2006/relationships/image" Target="/ppt/media/image8.svg" Id="Rf53b6a1b9a5940c3" /><Relationship Type="http://schemas.openxmlformats.org/officeDocument/2006/relationships/image" Target="/ppt/media/image9.png" Id="R10583f8e4e5f4ad0" /><Relationship Type="http://schemas.openxmlformats.org/officeDocument/2006/relationships/image" Target="/ppt/media/image9.svg" Id="R5df68386fb6d4e31" /><Relationship Type="http://schemas.openxmlformats.org/officeDocument/2006/relationships/image" Target="/ppt/media/image10.png" Id="R6b2b959dfcdd449b" /><Relationship Type="http://schemas.openxmlformats.org/officeDocument/2006/relationships/image" Target="/ppt/media/image10.svg" Id="R8f7116280f824784" /><Relationship Type="http://schemas.openxmlformats.org/officeDocument/2006/relationships/image" Target="/ppt/media/image11.png" Id="R301c1b097b6d43a0" /><Relationship Type="http://schemas.openxmlformats.org/officeDocument/2006/relationships/image" Target="/ppt/media/image11.svg" Id="R6425bc5d5e574eae" /><Relationship Type="http://schemas.openxmlformats.org/officeDocument/2006/relationships/image" Target="/ppt/media/image12.png" Id="Rc303c3e3f018416d" /><Relationship Type="http://schemas.openxmlformats.org/officeDocument/2006/relationships/image" Target="/ppt/media/image12.svg" Id="R414b29d81065498b" /><Relationship Type="http://schemas.openxmlformats.org/officeDocument/2006/relationships/image" Target="/ppt/media/image13.png" Id="R880b1b05b2224126" /><Relationship Type="http://schemas.openxmlformats.org/officeDocument/2006/relationships/image" Target="/ppt/media/image13.svg" Id="Re8a9dee7131248ce" /><Relationship Type="http://schemas.openxmlformats.org/officeDocument/2006/relationships/image" Target="/ppt/media/image14.png" Id="R312f741b7c954976" /><Relationship Type="http://schemas.openxmlformats.org/officeDocument/2006/relationships/image" Target="/ppt/media/image14.svg" Id="R112703369f6a45fd" /><Relationship Type="http://schemas.openxmlformats.org/officeDocument/2006/relationships/image" Target="/ppt/media/image15.png" Id="R35627a666f72457f" /><Relationship Type="http://schemas.openxmlformats.org/officeDocument/2006/relationships/image" Target="/ppt/media/image15.svg" Id="R8e09d05683814925" /><Relationship Type="http://schemas.openxmlformats.org/officeDocument/2006/relationships/image" Target="/ppt/media/image16.png" Id="R4fadccd9fdaf4398" /><Relationship Type="http://schemas.openxmlformats.org/officeDocument/2006/relationships/image" Target="/ppt/media/image16.svg" Id="R20773df6116d4dc4" /><Relationship Type="http://schemas.openxmlformats.org/officeDocument/2006/relationships/image" Target="/ppt/media/image17.png" Id="R99f05815f0ee4a61" /><Relationship Type="http://schemas.openxmlformats.org/officeDocument/2006/relationships/image" Target="/ppt/media/image17.svg" Id="Rf7a1bdf9df9949fe" /><Relationship Type="http://schemas.openxmlformats.org/officeDocument/2006/relationships/image" Target="/ppt/media/image18.png" Id="R1ce96b1427d74848" /><Relationship Type="http://schemas.openxmlformats.org/officeDocument/2006/relationships/image" Target="/ppt/media/image19.png" Id="R032a1b0156054c17" /><Relationship Type="http://schemas.openxmlformats.org/officeDocument/2006/relationships/image" Target="/ppt/media/image20.png" Id="R8fa66a959ae24ddc" /><Relationship Type="http://schemas.openxmlformats.org/officeDocument/2006/relationships/image" Target="/ppt/media/image21.png" Id="R8bf1f314b65a48c1" /><Relationship Type="http://schemas.openxmlformats.org/officeDocument/2006/relationships/image" Target="/ppt/media/image18.svg" Id="R59f7d133850d454a" /><Relationship Type="http://schemas.openxmlformats.org/officeDocument/2006/relationships/image" Target="/ppt/media/image22.png" Id="R6d70722813954062" /><Relationship Type="http://schemas.openxmlformats.org/officeDocument/2006/relationships/image" Target="/ppt/media/image19.svg" Id="R6c8b9ca3084b469b" /><Relationship Type="http://schemas.openxmlformats.org/officeDocument/2006/relationships/image" Target="/ppt/media/image23.png" Id="R8beb7e2b57b14ae1" /><Relationship Type="http://schemas.openxmlformats.org/officeDocument/2006/relationships/image" Target="/ppt/media/image20.svg" Id="R08115a598a3642f8" /><Relationship Type="http://schemas.openxmlformats.org/officeDocument/2006/relationships/notesSlide" Target="/ppt/notesSlides/notesSlide1.xml" Id="R00091203fb2c49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D1C96-E12A-4A1D-B034-9798CD5C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BF7C6-3D50-42E4-B759-D01B19F1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6D1C6-D557-4536-A333-A1ADDD5D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F585D-D4E9-4144-B245-2D4A2C9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575FD-195F-48DD-AB89-50E4F00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1F816-FD82-4B7F-B8B6-8BD593C6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BA2EF-9F86-4088-88DD-2A239BB2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A6179-1DD6-4C4A-887D-C6CBF771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4AE06-6B97-459F-B1C7-C4D1CF9D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37AFA-4BD1-4835-89BC-F877C68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931D7-2A6E-4132-81B7-21189B14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5D3C6-FBE8-4706-A6F6-F57AC39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DD52C-1943-442F-A4D2-275762BA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F3556-045D-4D6D-A638-E21200BB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2B60A-1B4E-4702-8AB9-F71D64DA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9560E-2D5A-4765-8D06-339C506F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E25B3-A2C1-4EC1-9C13-9F233771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C5D35-ED8B-4CF6-9B07-5C94829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A2F1E-08C3-49A8-AF33-4E23FEE4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62E2B-EA82-4E5D-A377-63AD9EB7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33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0C6C0-80F8-4F0E-87DE-F917D92A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85196-B43A-4A05-8BEE-86B0D077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A6E5C-73EB-4B78-84E4-3272D4B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7C561-E84A-42C9-8623-BCE33D24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0594D-A51C-4716-BB53-D9541AA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9C29A-34D0-4095-9989-C57FF0F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AC997-70C9-4C08-AB17-0DF1683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67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B8433-611E-450E-BAA9-BB54E9D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429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13F26-7ED2-4F88-8B7B-CAA1DD8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191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15869-8BC2-47DF-B519-E068959E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953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A9F86C-F4A2-4C12-9555-550F3CB8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715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94B3E-6A6D-4D7D-8793-9FDE8FBC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524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5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83B2DC-17CB-4038-B108-0941EA1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858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F0E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6BC16D-91B4-4665-92D4-7A781D2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F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E656A7-98EC-4D1A-BDA6-1D3282DD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8E28CA-A5E5-48D7-8230-A818F0C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91F0EC">
                <a:alpha val="4000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0f53367804d5f">
            <a:extLst>
              <a:ext uri="{96DAC541-7B7A-43D3-8B79-37D633B846F1}">
                <asvg:svgBlip xmlns:asvg="http://schemas.microsoft.com/office/drawing/2016/SVG/main" r:embed="Rd88409ef0cbf48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7905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F5CC57-00D9-42FA-B5D9-BC83C0E0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F0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0EC"/>
                </a:solidFill>
                <a:latin typeface="Aptos"/>
                <a:ea typeface="Aptos"/>
                <a:cs typeface="Aptos"/>
              </a:rPr>
              <a:t>CMPE/ISE/SE 494 GRADUATION 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0E5966-1449-474F-B5F3-2DD53A3F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95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rPr>
              <a:t>Spring 2025-26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24341F-18DE-47C9-9CAB-45F3A73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DRAPO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15EBD-D483-4BA9-81B3-D9FFA0E1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Patient-Centric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Healthcare Review Platform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EB0780-258B-41FB-928E-2C7A633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85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E2F4FF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E2F4FF"/>
                </a:solidFill>
                <a:latin typeface="Aptos"/>
                <a:ea typeface="Aptos"/>
                <a:cs typeface="Aptos"/>
              </a:rPr>
              <a:t>A Flutter + Firebase mobile application that turns post-visit feedback into structured provider discovery, role-aware workflows, and server-side weighted rankings.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617039-245A-4334-80E5-2351571B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1F0E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1F0EC"/>
                </a:solidFill>
                <a:latin typeface="Aptos"/>
                <a:ea typeface="Aptos"/>
                <a:cs typeface="Aptos"/>
              </a:rPr>
              <a:t>Built for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9093E6-79AD-41AD-832B-8B22C54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79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Patients in Turkey seeking reliable healthcare care, plus doctors, pharmacies, and admins who need governed reputation workflows.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6F1DC-5CF2-46EE-BB68-12E4EB86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6B08FF-B814-460D-8009-8E4EFF20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Flutter 3.19+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032200-DD5E-4FEE-B50B-C032902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1912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9C380D-D43E-4942-8C9E-B38C7FF2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579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Firebase Auth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EF919C-91CB-4E95-9708-754DF6B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912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85000D-E5E8-4836-86CF-F7F18D1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2579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Firestore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3C298F-84DB-4E51-8F29-6FB99584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7E14B6-D22A-4F16-9C04-BF1ECEE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770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Functions v2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DB8B14-748D-41D9-B5E9-C59F2FFE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6103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BD0E6D-3092-4474-A05D-7224447F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770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state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329A22-08AB-4588-9688-26AFF6E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F0E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2CC1F4-D46D-47FA-BAC7-0B8A9146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91F0E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91F0EC"/>
                </a:solidFill>
                <a:latin typeface="Aptos Display"/>
                <a:ea typeface="Aptos Display"/>
                <a:cs typeface="Aptos Display"/>
              </a:rPr>
              <a:t>8541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CCF0F0-3DA8-4710-B762-3A697222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Dart lines in lib/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2A3880-7335-4A59-9C9D-966203B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77240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1BE7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1BE72"/>
                </a:solidFill>
                <a:latin typeface="Aptos Display"/>
                <a:ea typeface="Aptos Display"/>
                <a:cs typeface="Aptos Display"/>
              </a:rPr>
              <a:t>52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BFADB6-4FBA-4065-8E95-B902CD6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8239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Dart source files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16260A-14C6-4253-899E-7CA5BF37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7724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A3D88B-BBAB-433B-8491-4A6613A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82391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Firestore collections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C5BB98-B5F2-4F64-BCED-D12BF2AA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FFFF">
                    <a:alpha val="65882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>
                    <a:alpha val="65882"/>
                  </a:srgbClr>
                </a:solidFill>
                <a:latin typeface="Aptos"/>
                <a:ea typeface="Aptos"/>
                <a:cs typeface="Aptos"/>
              </a:rPr>
              <a:t>No production usage or clinical claims are asserted; this poster presents the repository build and its measured evaluation artifacts.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5244AA-2FD8-43C5-BE20-D06C42B2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66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DESIGN CHALLENGE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98B937-BE5A-423A-8A12-3A0034E9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962025"/>
            <a:ext cx="771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Healthcare reviews are useful only when the score is hard to fake and easy to understand.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F5780D-25AC-4EAF-91D1-EB36124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D6"/>
          </a:solidFill>
          <a:ln xmlns:a="http://schemas.openxmlformats.org/drawingml/2006/main" w="9525">
            <a:solidFill>
              <a:srgbClr val="FFDA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298143-3639-40A4-BBB9-28AC75FA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2143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3000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3000A"/>
                </a:solidFill>
                <a:latin typeface="Aptos"/>
                <a:ea typeface="Aptos"/>
                <a:cs typeface="Aptos"/>
              </a:rPr>
              <a:t>Problem: single-star ratings flatten service quality and invite weak trust signals.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70C88B-AE5C-47EF-B525-9BB6D1BF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5FF"/>
          </a:solidFill>
          <a:ln xmlns:a="http://schemas.openxmlformats.org/drawingml/2006/main" w="9525">
            <a:solidFill>
              <a:srgbClr val="CDE5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85B2A1-E4E0-40F0-B41F-A8CC5A7B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Method: structure reviews, enforce one-review IDs, aggregate scores server-side.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B8FE28-7B1C-42FA-AD13-DA410FA2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1885950"/>
            <a:ext cx="26003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F0EC"/>
          </a:solidFill>
          <a:ln xmlns:a="http://schemas.openxmlformats.org/drawingml/2006/main" w="9525">
            <a:solidFill>
              <a:srgbClr val="91F0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B1D7A6-D483-4312-8BD7-F8B72AC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19716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Outcome: ranked discovery plus patient, provider, admin, and community flows.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8E7AE9-C88A-48AF-B296-85DA3F7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SYSTEM WORKFLOW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53081A-A1BB-44E5-894A-58D48B3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Trust is built into the data path, not just the interface.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37CF14-C4FB-40EF-B2E6-39197D1D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1AC661-E814-4692-8D47-4FF0FB53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bab1873584700">
            <a:extLst>
              <a:ext uri="{96DAC541-7B7A-43D3-8B79-37D633B846F1}">
                <asvg:svgBlip xmlns:asvg="http://schemas.microsoft.com/office/drawing/2016/SVG/main" r:embed="Rafc11d86a00e4e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3552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876D39-91AB-473F-B67A-DA8BE543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1472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Patient App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0EC327-140A-4DE6-BC16-1877D594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search, bookmark, review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AC2CA1-5EB7-4ED6-BF30-3AB6444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ad42259f4d1a">
            <a:extLst>
              <a:ext uri="{96DAC541-7B7A-43D3-8B79-37D633B846F1}">
                <asvg:svgBlip xmlns:asvg="http://schemas.microsoft.com/office/drawing/2016/SVG/main" r:embed="R7676c32689db4d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36385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312806-10C2-4087-B8F9-49E0C126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98F65C-E866-47EA-AC27-B9374CBB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67726c9164d4a">
            <a:extLst>
              <a:ext uri="{96DAC541-7B7A-43D3-8B79-37D633B846F1}">
                <asvg:svgBlip xmlns:asvg="http://schemas.microsoft.com/office/drawing/2016/SVG/main" r:embed="R2cd4d099580044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6775" y="3552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8E38E82-8698-4A59-B6EC-7397CA5E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14725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Auth + Role Gate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FF8DA94-7A9B-426B-84F5-40045531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909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patient / provider / admin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A07439-2270-4641-A99D-5C6C174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bfc4b8f6b4612">
            <a:extLst>
              <a:ext uri="{96DAC541-7B7A-43D3-8B79-37D633B846F1}">
                <asvg:svgBlip xmlns:asvg="http://schemas.microsoft.com/office/drawing/2016/SVG/main" r:embed="Rfbc5b19997ae47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87075" y="36385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337822-D28C-4BB3-ADFD-158C1AA0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813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4D3528-28A3-4414-AD6F-750607EC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813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187ab64f34fc4">
            <a:extLst>
              <a:ext uri="{96DAC541-7B7A-43D3-8B79-37D633B846F1}">
                <asvg:svgBlip xmlns:asvg="http://schemas.microsoft.com/office/drawing/2016/SVG/main" r:embed="R3c0e8cc7b19d4e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10950" y="3552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21A579-B201-4F75-A79D-E04D5CAA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51472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Firestore Writes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569621-AAD4-4A1F-AC82-3FE34E48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7909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users, providers, reviews, community_*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FFCAF10-5D1F-406E-94F1-6538C0CA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4375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E4AAAC-511B-40BB-AB25-94761AF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43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c0ef57bcf4d06">
            <a:extLst>
              <a:ext uri="{96DAC541-7B7A-43D3-8B79-37D633B846F1}">
                <asvg:svgBlip xmlns:asvg="http://schemas.microsoft.com/office/drawing/2016/SVG/main" r:embed="Rd4db822d367340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4695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7F2A85-DE05-4C62-A541-433F163F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577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Structured Review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05C14D5-0B22-49A3-BDFB-537240B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339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overall rating + four service-quality criteria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03A1B4-3CBF-434E-9978-844884BC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055dfe6e34966">
            <a:extLst>
              <a:ext uri="{96DAC541-7B7A-43D3-8B79-37D633B846F1}">
                <asvg:svgBlip xmlns:asvg="http://schemas.microsoft.com/office/drawing/2016/SVG/main" r:embed="Rf53b6a1b9a5940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6775" y="4800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36E6788-B576-45B6-9907-ED540628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F3A24-7ED3-4931-829B-716A5B50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243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83f8e4e5f4ad0">
            <a:extLst>
              <a:ext uri="{96DAC541-7B7A-43D3-8B79-37D633B846F1}">
                <asvg:svgBlip xmlns:asvg="http://schemas.microsoft.com/office/drawing/2016/SVG/main" r:embed="R5df68386fb6d4e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10650" y="4695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1117E14-9682-4C33-8398-446910F3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577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Cloud Function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EDAFC73-4836-44F1-B553-822DC35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339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recalculateProviderStats on review writes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9DF3D44-52E8-4625-833E-6D74491B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914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b959dfcdd449b">
            <a:extLst>
              <a:ext uri="{96DAC541-7B7A-43D3-8B79-37D633B846F1}">
                <asvg:svgBlip xmlns:asvg="http://schemas.microsoft.com/office/drawing/2016/SVG/main" r:embed="R8f7116280f8247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25225" y="4800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BC176E-48B8-4A22-9C96-D0E5D3B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524375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35DB68-1C4C-48DC-BAB7-EBCDA8E3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5243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c1b097b6d43a0">
            <a:extLst>
              <a:ext uri="{96DAC541-7B7A-43D3-8B79-37D633B846F1}">
                <asvg:svgBlip xmlns:asvg="http://schemas.microsoft.com/office/drawing/2016/SVG/main" r:embed="R6425bc5d5e574e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49100" y="4695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0A0F60A-FD7F-4C52-A907-D2E44897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65772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Ranked Listing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27AD84-DF1F-4945-8724-FFB153E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9339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rankingScore drives discovery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96E116A-B8C0-4467-A49E-3036D9A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769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E52C11B-A7B5-4E73-B49E-80B7C99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769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3c3e3f018416d">
            <a:extLst>
              <a:ext uri="{96DAC541-7B7A-43D3-8B79-37D633B846F1}">
                <asvg:svgBlip xmlns:asvg="http://schemas.microsoft.com/office/drawing/2016/SVG/main" r:embed="R414b29d8106549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58483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6455F9-2968-461A-A612-E9455B79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8102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Rules Lock Scores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AA75DB4-B278-42FA-8A63-EA8BF3C8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08647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clients cannot edit averageRating, totalReviews, rankingScore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F076851-2CCB-41FB-89EE-5149CE2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769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54A2356-2747-41C5-8E71-7D86B165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769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b1b05b2224126">
            <a:extLst>
              <a:ext uri="{96DAC541-7B7A-43D3-8B79-37D633B846F1}">
                <asvg:svgBlip xmlns:asvg="http://schemas.microsoft.com/office/drawing/2016/SVG/main" r:embed="Re8a9dee7131248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62950" y="58483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680E4FB-6583-485D-82C1-864A4B1D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102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Provider Replies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189997A-F468-4DF2-B09D-DB86A01F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08647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only providerReply + providerReplyAt may update reviews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768EA7D-631A-44D7-8B6D-7AC8064C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67690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1C7C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2CF598A-A45A-49BB-8A5B-DE3C38E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6769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f741b7c954976">
            <a:extLst>
              <a:ext uri="{96DAC541-7B7A-43D3-8B79-37D633B846F1}">
                <asvg:svgBlip xmlns:asvg="http://schemas.microsoft.com/office/drawing/2016/SVG/main" r:embed="R112703369f6a45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53750" y="58483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E8C819-BB4D-4789-A684-E418D2D5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10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Community Transaction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3A2DA67-FBA7-4253-AFCA-25595F51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86475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off-app doctor aggregate + review write happen atomically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3B6091D-5A08-4D3A-82CD-B427166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648450"/>
            <a:ext cx="798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31C875E-977D-4C34-BFCC-97383691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58000"/>
            <a:ext cx="388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3DF002C-1F88-4FA3-A4BE-7B312F58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0866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AHP-INSPIRED RANKING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4D8F9F-8B8D-48F5-AA76-B12334A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343775"/>
            <a:ext cx="335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rankingScore = 0.4 * averageOverallRating + 0.6 * weightedQuestionnaireScore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238E7B8-D0A0-4E74-B9ED-08C2F85A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981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Staff communication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F57D09B-C866-4409-BE0A-B7B29D20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029575"/>
            <a:ext cx="2047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1CC374-2B18-49A7-ABD3-462F8EB1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029575"/>
            <a:ext cx="71675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F4B447-4BF9-4192-82E0-E08FD1A0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724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A918BF2-E379-4283-97C8-F5B5C8C8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82772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Hygiene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CBC4AF-F906-4191-B16F-E62A34B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324850"/>
            <a:ext cx="2047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A364E5A-BAAA-4ABF-B0E1-0ABD45B8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324850"/>
            <a:ext cx="51196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FEC1D33-E213-4252-A9FE-32480894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267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1D8133-C5C9-430C-B3C1-8F2D5CD2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857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Service quality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8612208-22F9-49C1-9BD5-7788530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620125"/>
            <a:ext cx="2047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0EF3B9-35C3-4D57-89D8-310DDCB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620125"/>
            <a:ext cx="51196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2FAB4BF-82C3-41F6-8558-B4B1C101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562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BD4D8D1-D099-43AD-B95D-8AF36FD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8867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Waiting time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41FE2F8-13E9-4FC3-AC50-BD4ABE72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915400"/>
            <a:ext cx="2047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8858F0C-58CE-4E5E-BF27-079EE6A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915400"/>
            <a:ext cx="30718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5B076D3-7155-47B5-AE8D-76C4030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85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1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510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7372655-FBB5-4EDB-8374-D63F4A8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858000"/>
            <a:ext cx="38481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09CEBEB-0D14-4470-A5ED-B236B4C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0866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3D9239C-E565-43AE-8CB6-E9171EA1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343775"/>
            <a:ext cx="1028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27a666f72457f">
            <a:extLst>
              <a:ext uri="{96DAC541-7B7A-43D3-8B79-37D633B846F1}">
                <asvg:svgBlip xmlns:asvg="http://schemas.microsoft.com/office/drawing/2016/SVG/main" r:embed="R8e09d056838149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86975" y="74961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A9702BD-5CDF-4B65-BA06-2744B5A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747712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4469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74469"/>
                </a:solidFill>
                <a:latin typeface="Aptos Display"/>
                <a:ea typeface="Aptos Display"/>
                <a:cs typeface="Aptos Display"/>
              </a:rPr>
              <a:t>154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38EA064-8299-45E9-BE72-11334802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772400"/>
            <a:ext cx="76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Dart tests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9B6B556-9D58-4242-A08D-2844429B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924800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unit/widget/A-B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199CD1-EBEA-409C-BF35-08CFE52D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343775"/>
            <a:ext cx="91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dccd9fdaf4398">
            <a:extLst>
              <a:ext uri="{96DAC541-7B7A-43D3-8B79-37D633B846F1}">
                <asvg:svgBlip xmlns:asvg="http://schemas.microsoft.com/office/drawing/2016/SVG/main" r:embed="R20773df6116d4d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49025" y="74961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22B5AC7-AF57-453C-B6CB-329A875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747712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90623E7-9C61-4D8B-8328-7191B079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772400"/>
            <a:ext cx="647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JS tests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709CD91-6DF6-4169-B481-B959B409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924800"/>
            <a:ext cx="647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aggregation fn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C6650CB-9DDD-4944-ABC8-524B2085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343775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05815f0ee4a61">
            <a:extLst>
              <a:ext uri="{96DAC541-7B7A-43D3-8B79-37D633B846F1}">
                <asvg:svgBlip xmlns:asvg="http://schemas.microsoft.com/office/drawing/2016/SVG/main" r:embed="Rf7a1bdf9df9949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296775" y="74961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666D3DB-D714-4CD9-9574-F27D0221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747712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10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6510E"/>
                </a:solidFill>
                <a:latin typeface="Aptos Display"/>
                <a:ea typeface="Aptos Display"/>
                <a:cs typeface="Aptos Display"/>
              </a:rPr>
              <a:t>78.1%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8D5B769-53FA-472A-8A7B-97B0E2A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77240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8BE6817-B1AF-4443-B526-0BB6B50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924800"/>
            <a:ext cx="914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~92% effective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23F0826-F541-4A51-88D7-FD6C2DA7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210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SUS participant scores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300E4EF-B746-4BCF-818A-1D4A636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8401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3A3E3FA-47CE-4975-BE44-0E4DF305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8566785"/>
            <a:ext cx="22860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9743127-86CD-4942-851E-6C3C8FA8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08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FE80B16-B920-4F96-92B0-E53A36BA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8401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F122DAC-13BE-44B6-B74A-98B1DEA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8654225"/>
            <a:ext cx="228600" cy="3754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29E2814-81E8-4A84-B3D5-67C35D8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908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E3BD137-4099-4259-AAE3-BE21951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8401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FFB3A23-0663-4776-A350-6E41DEE9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8592503"/>
            <a:ext cx="228600" cy="4371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4CDAFF1-6CD4-47FE-A452-3C32CCA3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908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07FC8F8-5359-44E9-9923-7006D7CB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8401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P4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D732137-0111-4278-9C0A-683B9462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525637"/>
            <a:ext cx="228600" cy="504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DBD59C5-CC6D-4709-8098-8CC3FA54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908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496A2CD-D13F-46F3-BB79-EDC2620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8401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P5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960018A-59DC-43F5-AD2D-C699E061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757095"/>
            <a:ext cx="228600" cy="272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7814DE5-5237-4E67-9318-0195B0F3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908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2538F93-F4B0-477B-BEA3-617ED16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84010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2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P6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D53318B-8231-4FF8-AD54-9150EC74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8643938"/>
            <a:ext cx="228600" cy="385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1348373-643F-4E78-B0C0-2F5A1C06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08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C5E544D-5EC3-4D0F-AAD5-488F8D1F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8229600"/>
            <a:ext cx="106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Mean SUS 78.75 (B - Good)</a:t>
            </a:r>
          </a:p>
          <a:p xmlns:a="http://schemas.openxmlformats.org/drawingml/2006/main">
            <a:pPr algn="l">
              <a:defRPr sz="81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86.7% task completion</a:t>
            </a:r>
          </a:p>
          <a:p xmlns:a="http://schemas.openxmlformats.org/drawingml/2006/main">
            <a:pPr algn="l">
              <a:defRPr sz="81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6 participants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F540104-D66A-4C06-B954-F10D1E5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666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PRODUCT SURFACES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1FFA195-CBF0-4B84-9FE8-76E4FE1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933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A real mobile flow, not just a rating formula.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826E4B7-A6CC-4A03-B683-88F3D305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905250"/>
            <a:ext cx="1333500" cy="2887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2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11A7180-DC37-4F03-878C-4C465CD5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733800"/>
            <a:ext cx="1333500" cy="2887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E2C"/>
          </a:solidFill>
          <a:ln xmlns:a="http://schemas.openxmlformats.org/drawingml/2006/main" w="13335">
            <a:solidFill>
              <a:srgbClr val="061E2C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B479549-1C09-4765-AFB5-2CFE389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3876675"/>
            <a:ext cx="1123950" cy="2601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96b1427d74848"/>
          <a:srcRect xmlns:a="http://schemas.openxmlformats.org/drawingml/2006/main" l="3244" t="0" r="32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16125" y="3876675"/>
            <a:ext cx="1123950" cy="2601278"/>
          </a:xfrm>
          <a:prstGeom xmlns:a="http://schemas.openxmlformats.org/drawingml/2006/main" prst="rect">
            <a:avLst/>
          </a:prstGeom>
        </p:spPr>
      </p:pic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C9957B8-0542-45E1-BBFC-BDB0ECF4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1410" y="3810000"/>
            <a:ext cx="3733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A4BC62D-AE91-490A-859B-E8AB58AA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6735128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0785AA8-1773-46D9-9575-C1D305DC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6801803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dashboard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B994058-B381-4194-A018-3EB82B5C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847850"/>
            <a:ext cx="1428750" cy="3093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2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5242D6B-7C5C-4C15-9F3A-54D88E7A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676400"/>
            <a:ext cx="1428750" cy="3093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E2C"/>
          </a:solidFill>
          <a:ln xmlns:a="http://schemas.openxmlformats.org/drawingml/2006/main" w="13335">
            <a:solidFill>
              <a:srgbClr val="061E2C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90ED565-58C5-441E-9F05-81D5FB81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1819275"/>
            <a:ext cx="1219200" cy="2807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a1b0156054c17"/>
          <a:srcRect xmlns:a="http://schemas.openxmlformats.org/drawingml/2006/main" l="3007" t="0" r="30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11275" y="1819275"/>
            <a:ext cx="1219200" cy="2807494"/>
          </a:xfrm>
          <a:prstGeom xmlns:a="http://schemas.openxmlformats.org/drawingml/2006/main" prst="rect">
            <a:avLst/>
          </a:prstGeom>
        </p:spPr>
      </p:pic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4617B8D-D133-4FA2-A564-8047DD3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17526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3139EB2-B367-48E7-A9AA-42096BF2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883944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3027BE7-F169-48C9-900B-7C14549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950619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Patient discovery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2D87AC1-3181-4DA3-A8EB-D11646E1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2247900"/>
            <a:ext cx="1428750" cy="3093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2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259B600-1074-4DB9-9076-1D76DDCF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2076450"/>
            <a:ext cx="1428750" cy="3093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E2C"/>
          </a:solidFill>
          <a:ln xmlns:a="http://schemas.openxmlformats.org/drawingml/2006/main" w="13335">
            <a:solidFill>
              <a:srgbClr val="061E2C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0A8BED2-7763-4A48-B453-004F9911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219325"/>
            <a:ext cx="1219200" cy="2807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66a959ae24ddc"/>
          <a:srcRect xmlns:a="http://schemas.openxmlformats.org/drawingml/2006/main" l="3007" t="0" r="30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92425" y="2219325"/>
            <a:ext cx="1219200" cy="2807494"/>
          </a:xfrm>
          <a:prstGeom xmlns:a="http://schemas.openxmlformats.org/drawingml/2006/main" prst="rect">
            <a:avLst/>
          </a:prstGeom>
        </p:spPr>
      </p:pic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361C1BA-78BD-4176-AB39-801C6B27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1526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C277D8C-FB37-4600-9C24-A143C5A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5283994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A8F9F59-CC78-468A-AE51-567E0BB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350669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Structured review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C38E63B-7D78-4435-AD08-6CEA1976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81990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9168B0C-2335-4A33-B54F-2DBDCEB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8199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1f314b65a48c1">
            <a:extLst>
              <a:ext uri="{96DAC541-7B7A-43D3-8B79-37D633B846F1}">
                <asvg:svgBlip xmlns:asvg="http://schemas.microsoft.com/office/drawing/2016/SVG/main" r:embed="R59f7d133850d45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0" y="6991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3DDCD43-1702-4C41-81E3-A5698EC1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9627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Patient journey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57F031A-16B0-4E33-A20C-FD31F72B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219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Find doctors/pharmacies, compare ranked</a:t>
            </a:r>
          </a:p>
          <a:p xmlns:a="http://schemas.openxmlformats.org/drawingml/2006/main">
            <a:pPr algn="l">
              <a:defRPr sz="90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listings,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D542CDE-D793-4FEA-930A-1D2238C1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77240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585EA04-CDC8-4471-913E-F10FC95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772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0722813954062">
            <a:extLst>
              <a:ext uri="{96DAC541-7B7A-43D3-8B79-37D633B846F1}">
                <asvg:svgBlip xmlns:asvg="http://schemas.microsoft.com/office/drawing/2016/SVG/main" r:embed="R6c8b9ca3084b46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0" y="7943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0EE833C-9639-424B-B7E9-27F6BBC8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9152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Provider + admin control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92F3A6A-9CAA-4F27-A68A-EF1E6821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8172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Providers reply and request practice changes;</a:t>
            </a:r>
          </a:p>
          <a:p xmlns:a="http://schemas.openxmlformats.org/drawingml/2006/main">
            <a:pPr algn="l">
              <a:defRPr sz="90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admins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D5AB318-FBA2-4F4F-BF3B-D0208BFC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724900"/>
            <a:ext cx="3543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C160F13-7BD7-4CD6-89FC-26708A9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87249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b7e2b57b14ae1">
            <a:extLst>
              <a:ext uri="{96DAC541-7B7A-43D3-8B79-37D633B846F1}">
                <asvg:svgBlip xmlns:asvg="http://schemas.microsoft.com/office/drawing/2016/SVG/main" r:embed="R08115a598a3642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0" y="8896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04FFCE6-F372-4326-9934-14FFF52B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88677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Honest next sprint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A862BC1-D580-414A-AB5F-1035DD2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9124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Improve search affordance and bookmark labels;</a:t>
            </a:r>
          </a:p>
          <a:p xmlns:a="http://schemas.openxmlformats.org/drawingml/2006/main">
            <a:pPr algn="l">
              <a:defRPr sz="90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add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9AD3E3F-41A9-4F6C-83E6-778BA7F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9544050"/>
            <a:ext cx="1184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7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94A5F46-7DC6-45F8-954A-EC64CB9D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9772650"/>
            <a:ext cx="1184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Sources: README.md, PRODUCT.md, DESIGN.md, TEST_REPORT.md, USABILITY_TEST.md, STUDY_GUIDE.md, functions/src/aggregation.js, firestore.rules, lib/services/firestore_service.dart</a:t>
            </a:r>
          </a:p>
        </p:txBody>
      </p:sp>
    </p:spTree>
    <p:extLst>
      <p:ext uri="{BB962C8B-B14F-4D97-AF65-F5344CB8AC3E}">
        <p14:creationId xmlns:p14="http://schemas.microsoft.com/office/powerpoint/2010/main" val="377459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2026-05-27T16:44:46.5940000Z</dcterms:created>
  <dcterms:modified xsi:type="dcterms:W3CDTF">2026-05-27T16:44:46.5940000Z</dcterms:modified>
</coreProperties>
</file>