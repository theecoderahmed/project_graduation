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29a4537bc1444d" /><Relationship Type="http://schemas.openxmlformats.org/officeDocument/2006/relationships/extended-properties" Target="/docProps/app.xml" Id="R2c0f0ef150db4e9c" /><Relationship Type="http://schemas.openxmlformats.org/officeDocument/2006/relationships/officeDocument" Target="/ppt/presentation.xml" Id="Rf9c4524e6d5246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4825b43ae942bd"/>
  </p:sldMasterIdLst>
  <p:notesMasterIdLst>
    <p:notesMasterId xmlns:r="http://schemas.openxmlformats.org/officeDocument/2006/relationships" r:id="R6a065605475e481f"/>
  </p:notesMasterIdLst>
  <p:sldIdLst>
    <p:sldId xmlns:r="http://schemas.openxmlformats.org/officeDocument/2006/relationships" id="256" r:id="R5dfc67b3721244c3"/>
  </p:sldIdLst>
  <p:sldSz cx="10287000" cy="1828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825b43ae942bd" /><Relationship Type="http://schemas.openxmlformats.org/officeDocument/2006/relationships/theme" Target="/ppt/theme/theme1.xml" Id="R12dbf19470fd4236" /><Relationship Type="http://schemas.openxmlformats.org/officeDocument/2006/relationships/notesMaster" Target="/ppt/notesMasters/notesMaster1.xml" Id="R6a065605475e481f" /><Relationship Type="http://schemas.openxmlformats.org/officeDocument/2006/relationships/presProps" Target="/ppt/presProps.xml" Id="Rbf1ffb05dfca4168" /><Relationship Type="http://schemas.openxmlformats.org/officeDocument/2006/relationships/viewProps" Target="/ppt/viewProps.xml" Id="Re29cef7940734654" /><Relationship Type="http://schemas.openxmlformats.org/officeDocument/2006/relationships/tableStyles" Target="/ppt/tableStyles.xml" Id="R386032aaec324b57" /><Relationship Type="http://schemas.openxmlformats.org/officeDocument/2006/relationships/slide" Target="/ppt/slides/slide1.xml" Id="R5dfc67b3721244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38d1aedc2c547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1f2120fc664d9c" /><Relationship Type="http://schemas.openxmlformats.org/officeDocument/2006/relationships/notesMaster" Target="/ppt/notesMasters/notesMaster1.xml" Id="Rb4bd5445da6141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2b52785d84f9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efc04d28a294b11" /><Relationship Type="http://schemas.openxmlformats.org/officeDocument/2006/relationships/slideLayout" Target="/ppt/slideLayouts/slideLayout2.xml" Id="R358f446985f041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8f446985f041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596586814b49aa" /><Relationship Type="http://schemas.openxmlformats.org/officeDocument/2006/relationships/image" Target="/ppt/media/image.png" Id="Re9644188800d4a3f" /><Relationship Type="http://schemas.openxmlformats.org/officeDocument/2006/relationships/image" Target="/ppt/media/image.svg" Id="R4021937ea4754eac" /><Relationship Type="http://schemas.openxmlformats.org/officeDocument/2006/relationships/image" Target="/ppt/media/image2.png" Id="R35f4e1f9cefe4dd3" /><Relationship Type="http://schemas.openxmlformats.org/officeDocument/2006/relationships/image" Target="/ppt/media/image2.svg" Id="R373f802d3d174adb" /><Relationship Type="http://schemas.openxmlformats.org/officeDocument/2006/relationships/image" Target="/ppt/media/image3.png" Id="R11bf8bb95ef14755" /><Relationship Type="http://schemas.openxmlformats.org/officeDocument/2006/relationships/image" Target="/ppt/media/image3.svg" Id="Rc713436bd25b4f03" /><Relationship Type="http://schemas.openxmlformats.org/officeDocument/2006/relationships/image" Target="/ppt/media/image4.png" Id="Rcde9a7844730451d" /><Relationship Type="http://schemas.openxmlformats.org/officeDocument/2006/relationships/image" Target="/ppt/media/image4.svg" Id="R02d7b6abbf974c0c" /><Relationship Type="http://schemas.openxmlformats.org/officeDocument/2006/relationships/image" Target="/ppt/media/image5.png" Id="R3db894bbc290443c" /><Relationship Type="http://schemas.openxmlformats.org/officeDocument/2006/relationships/image" Target="/ppt/media/image5.svg" Id="R3d1cc50f6d6741a4" /><Relationship Type="http://schemas.openxmlformats.org/officeDocument/2006/relationships/image" Target="/ppt/media/image6.png" Id="R1d0df82d039d4741" /><Relationship Type="http://schemas.openxmlformats.org/officeDocument/2006/relationships/image" Target="/ppt/media/image6.svg" Id="R369893887b2c462b" /><Relationship Type="http://schemas.openxmlformats.org/officeDocument/2006/relationships/image" Target="/ppt/media/image7.png" Id="R5e489ddb228b4d12" /><Relationship Type="http://schemas.openxmlformats.org/officeDocument/2006/relationships/image" Target="/ppt/media/image7.svg" Id="R193511eb2c684ec0" /><Relationship Type="http://schemas.openxmlformats.org/officeDocument/2006/relationships/image" Target="/ppt/media/image8.png" Id="Rc3dc865fcd4d449b" /><Relationship Type="http://schemas.openxmlformats.org/officeDocument/2006/relationships/image" Target="/ppt/media/image8.svg" Id="Rf39f1a8ba04449d5" /><Relationship Type="http://schemas.openxmlformats.org/officeDocument/2006/relationships/image" Target="/ppt/media/image9.png" Id="R7d4f8bf3a7f04f99" /><Relationship Type="http://schemas.openxmlformats.org/officeDocument/2006/relationships/image" Target="/ppt/media/image9.svg" Id="R85e84f5fad514f69" /><Relationship Type="http://schemas.openxmlformats.org/officeDocument/2006/relationships/image" Target="/ppt/media/image10.png" Id="R5e1f858339e9422e" /><Relationship Type="http://schemas.openxmlformats.org/officeDocument/2006/relationships/image" Target="/ppt/media/image10.svg" Id="R546a7758bb5f4ed4" /><Relationship Type="http://schemas.openxmlformats.org/officeDocument/2006/relationships/image" Target="/ppt/media/image11.png" Id="R23c23d930f9e4493" /><Relationship Type="http://schemas.openxmlformats.org/officeDocument/2006/relationships/image" Target="/ppt/media/image11.svg" Id="R290e9e9c40054369" /><Relationship Type="http://schemas.openxmlformats.org/officeDocument/2006/relationships/image" Target="/ppt/media/image12.png" Id="R9fb9f96808524b90" /><Relationship Type="http://schemas.openxmlformats.org/officeDocument/2006/relationships/image" Target="/ppt/media/image12.svg" Id="Re9000b756a0e4766" /><Relationship Type="http://schemas.openxmlformats.org/officeDocument/2006/relationships/image" Target="/ppt/media/image13.png" Id="R73fdbd8d50764809" /><Relationship Type="http://schemas.openxmlformats.org/officeDocument/2006/relationships/image" Target="/ppt/media/image13.svg" Id="R813bf63ba8144a2b" /><Relationship Type="http://schemas.openxmlformats.org/officeDocument/2006/relationships/image" Target="/ppt/media/image14.png" Id="R19e00211b97f463f" /><Relationship Type="http://schemas.openxmlformats.org/officeDocument/2006/relationships/image" Target="/ppt/media/image14.svg" Id="Rb21952ac8b5948d4" /><Relationship Type="http://schemas.openxmlformats.org/officeDocument/2006/relationships/image" Target="/ppt/media/image15.png" Id="R9d94f3b950f84a46" /><Relationship Type="http://schemas.openxmlformats.org/officeDocument/2006/relationships/image" Target="/ppt/media/image16.png" Id="R75a6282ee69e4c09" /><Relationship Type="http://schemas.openxmlformats.org/officeDocument/2006/relationships/image" Target="/ppt/media/image17.png" Id="R7d395fd426ba4d68" /><Relationship Type="http://schemas.openxmlformats.org/officeDocument/2006/relationships/image" Target="/ppt/media/image18.png" Id="R5fc9f31f25f04ff6" /><Relationship Type="http://schemas.openxmlformats.org/officeDocument/2006/relationships/image" Target="/ppt/media/image15.svg" Id="R7310617086594f94" /><Relationship Type="http://schemas.openxmlformats.org/officeDocument/2006/relationships/image" Target="/ppt/media/image19.png" Id="Rdcd75ccf1fea4055" /><Relationship Type="http://schemas.openxmlformats.org/officeDocument/2006/relationships/image" Target="/ppt/media/image16.svg" Id="R2fdae100445c4850" /><Relationship Type="http://schemas.openxmlformats.org/officeDocument/2006/relationships/image" Target="/ppt/media/image20.png" Id="R99fa42b44e2a4198" /><Relationship Type="http://schemas.openxmlformats.org/officeDocument/2006/relationships/image" Target="/ppt/media/image17.svg" Id="R2b5cea23612b49ad" /><Relationship Type="http://schemas.openxmlformats.org/officeDocument/2006/relationships/image" Target="/ppt/media/image21.png" Id="R352fbf519b124fd3" /><Relationship Type="http://schemas.openxmlformats.org/officeDocument/2006/relationships/image" Target="/ppt/media/image18.svg" Id="R2400eccfeedd4277" /><Relationship Type="http://schemas.openxmlformats.org/officeDocument/2006/relationships/image" Target="/ppt/media/image22.png" Id="R81d5e324bf174571" /><Relationship Type="http://schemas.openxmlformats.org/officeDocument/2006/relationships/image" Target="/ppt/media/image19.svg" Id="R611aa1487a184590" /><Relationship Type="http://schemas.openxmlformats.org/officeDocument/2006/relationships/notesSlide" Target="/ppt/notesSlides/notesSlide1.xml" Id="Re7069b5f45c74d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9A759A-884B-449A-ADFC-B651A57A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4EAAF-75DD-43E9-A793-FE1F0967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9525" cy="1388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8E68C-8E41-448C-9AF4-6DB510DA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9525" cy="1388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7537F-0BF6-45DF-910C-3F5A1EFD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10050"/>
            <a:ext cx="9525" cy="1388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AA9E6-FEF8-4501-A739-977F71FB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9525" cy="1388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8444C-642E-4CBB-879D-27C933AC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9525" cy="1388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81339-DC9C-4ABA-98E2-BA0C5EAB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10050"/>
            <a:ext cx="9525" cy="1388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C33D8-01D3-43AA-9B4A-787E81C4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10050"/>
            <a:ext cx="9525" cy="1388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B9DD1-2E57-4AE0-9226-B6D48293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10050"/>
            <a:ext cx="9525" cy="1388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25D91-99C0-4E6A-BD60-2CE83B1C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10050"/>
            <a:ext cx="9525" cy="1388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C9545-A19C-4245-915D-7E7EF22A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10050"/>
            <a:ext cx="9525" cy="1388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4AE15-D2FB-4DF3-A637-A5104025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9525" cy="1388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7292A-8542-4618-A1C9-F7F90345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10050"/>
            <a:ext cx="9525" cy="1388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38B491-7A58-4AE9-9E57-B857F4D4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10050"/>
            <a:ext cx="9525" cy="1388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6BF9D-7FAD-4B74-A89C-EFFD7EC2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41082-FD1F-4DB6-BCD3-8A99C5C6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E6CA1-8D2E-4419-AF77-D6B05C3F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BC74B-7B41-455F-B653-C7C280C2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B10C5-B177-4AF1-9FEE-C0C9ADC0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03EFB-734E-49D2-ADF9-D56AA437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4AA720-6B50-4D83-8BFC-7F661A04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9A2F4-3DD4-4B25-B6DE-14EE9E54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8B75F-B60E-4A8D-85C8-8D496128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1CF1EA-3169-4601-9C6B-912595E8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BE4CB0-5846-42F9-8D1F-58B99747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47353D-9913-4F3B-B4D0-A98411CB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954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4E8EED-EE3A-4864-8D2E-2189159B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1866C9-3C96-41CE-B89A-AA027FD4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233F51-B4BC-4373-976F-02A4A8AE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A1A27A-8FE9-4A0C-8E38-C09FCCAF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002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83010A-B6FE-4D73-B47A-659418F9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A0815C-329B-429E-992D-F619F766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526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E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266686-EFE9-44D9-9D4B-7757FC43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668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F0EC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4F0D59-4F76-42F1-BB3F-18DD53E7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055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5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0B16EC-F4B5-4EFF-959E-BAB80CE7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2F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6D85D6-EA0B-43F0-A616-59DDB37C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BC850D-2C28-4288-A48D-986AE5BB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-17621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F0E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2001F6-D4F2-4696-AF14-E8D3C7DA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E5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6DF745-9C9A-4173-A4FC-11FAFF84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430">
            <a:solidFill>
              <a:srgbClr val="91F0EC">
                <a:alpha val="40000"/>
              </a:srgbClr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44188800d4a3f">
            <a:extLst>
              <a:ext uri="{96DAC541-7B7A-43D3-8B79-37D633B846F1}">
                <asvg:svgBlip xmlns:asvg="http://schemas.microsoft.com/office/drawing/2016/SVG/main" r:embed="R4021937ea4754e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" y="714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E545E5-B85C-45DD-8FFA-35D10EF8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15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1F0E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F0EC"/>
                </a:solidFill>
                <a:latin typeface="Aptos"/>
                <a:ea typeface="Aptos"/>
                <a:cs typeface="Aptos"/>
              </a:rPr>
              <a:t>CMPE/ISE/SE 494 GRADUATION PROJECT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0AE9C1-C64A-402D-9651-A3F0587B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1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>
                    <a:alpha val="8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>
                    <a:alpha val="80000"/>
                  </a:srgbClr>
                </a:solidFill>
                <a:latin typeface="Aptos"/>
                <a:ea typeface="Aptos"/>
                <a:cs typeface="Aptos"/>
              </a:rPr>
              <a:t>Spring 2025-26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4D8577-F00E-410A-BB88-B8B51431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4191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6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DRAPO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3B4F43-8368-4BAD-B90B-BD4DB854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Patient-Centric Healthcare Review Platform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68B31B-27F8-414B-B51E-5679745E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E2F4FF"/>
                </a:solidFill>
                <a:latin typeface="Aptos"/>
                <a:ea typeface="Aptos"/>
                <a:cs typeface="Aptos"/>
              </a:defRPr>
            </a:pPr>
            <a:r>
              <a:rPr sz="1215" b="0">
                <a:solidFill>
                  <a:srgbClr val="E2F4FF"/>
                </a:solidFill>
                <a:latin typeface="Aptos"/>
                <a:ea typeface="Aptos"/>
                <a:cs typeface="Aptos"/>
              </a:rPr>
              <a:t>A Flutter + Firebase mobile app that turns post-visit feedback into structured provider discovery, role-aware workflows, and server-side weighted rankings.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4C8AE9-CD4C-4557-97B3-9E09D9C6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5804DE-992C-4F3D-B0E9-FE90FD3E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8142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Flutter 3.19+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E87937-07ED-4B27-8143-48ADF1FA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EAB2C1-D1B2-438A-AF04-401F4D7A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8142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Firebase Auth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D60705-F968-4F0F-8AC9-6AFBDD97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A7FDE7-F3E5-4916-AA03-2A73F25D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81425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Firestore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8BFFB8-D220-4E65-835A-C710D24A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14750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C6301E-E94E-4C7A-B5BE-9A92D3E8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81425"/>
            <a:ext cx="131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 Functions v2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941F65-F47B-4251-88B3-E5A84705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1475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D82FCB-08AB-4F39-ADCB-DFCFEC2C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814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Provider state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569FA3-6B31-4065-8D44-31383EBC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9055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4e1f9cefe4dd3">
            <a:extLst>
              <a:ext uri="{96DAC541-7B7A-43D3-8B79-37D633B846F1}">
                <asvg:svgBlip xmlns:asvg="http://schemas.microsoft.com/office/drawing/2016/SVG/main" r:embed="R373f802d3d174a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43800" y="781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D4976D-3DCB-4DAC-8537-A1CACB09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7048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1F0E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91F0EC"/>
                </a:solidFill>
                <a:latin typeface="Aptos Display"/>
                <a:ea typeface="Aptos Display"/>
                <a:cs typeface="Aptos Display"/>
              </a:rPr>
              <a:t>8541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45DC79-00CA-424A-A5F0-781194D3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0763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rPr>
              <a:t>Dart lines in lib/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87EFC7-8130-461A-A5F7-DBC76A81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6210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f8bb95ef14755">
            <a:extLst>
              <a:ext uri="{96DAC541-7B7A-43D3-8B79-37D633B846F1}">
                <asvg:svgBlip xmlns:asvg="http://schemas.microsoft.com/office/drawing/2016/SVG/main" r:embed="Rc713436bd25b4f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43800" y="1752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2AAF50-5BE8-4DE2-B9BA-8F9C6312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764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BE72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1BE72"/>
                </a:solidFill>
                <a:latin typeface="Aptos Display"/>
                <a:ea typeface="Aptos Display"/>
                <a:cs typeface="Aptos Display"/>
              </a:rPr>
              <a:t>154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5B8AC1-DFAC-4D90-AB69-09D806AD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478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rPr>
              <a:t>Dart tests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1C1F05F-3F8E-49DE-A336-DE826C70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3365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9a7844730451d">
            <a:extLst>
              <a:ext uri="{96DAC541-7B7A-43D3-8B79-37D633B846F1}">
                <asvg:svgBlip xmlns:asvg="http://schemas.microsoft.com/office/drawing/2016/SVG/main" r:embed="R02d7b6abbf974c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43800" y="2724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A5358BF-C9FC-4AF5-9AE1-E208AB60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78.75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F22C612-AB18-4666-B0A7-E0483ABD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194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>
                    <a:alpha val="84706"/>
                  </a:srgbClr>
                </a:solidFill>
                <a:latin typeface="Aptos"/>
                <a:ea typeface="Aptos"/>
                <a:cs typeface="Aptos"/>
              </a:rPr>
              <a:t>Mean SUS score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3F845C-825A-4EA5-B2EF-4EA355F3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DESIGN CHALLENGE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DB2F3D-5AC0-442D-976B-BC662CDF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rPr>
              <a:t>Healthcare reviews need more than a star average.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B7F276A-62F4-481B-8222-00F46FF3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D6"/>
          </a:solidFill>
          <a:ln xmlns:a="http://schemas.openxmlformats.org/drawingml/2006/main" w="9525">
            <a:solidFill>
              <a:srgbClr val="FFDAD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7F6880-4EF7-4BB5-8AF5-9DA96DA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3000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3000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F9CDC4B-7EBB-478B-B9A9-2FF04EBE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93000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93000A"/>
                </a:solidFill>
                <a:latin typeface="Aptos"/>
                <a:ea typeface="Aptos"/>
                <a:cs typeface="Aptos"/>
              </a:rPr>
              <a:t>Single-star ratings flatten service quality and weaken trust.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F1408B4-B40D-4870-8CF7-E6A6464D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19750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5FF"/>
          </a:solidFill>
          <a:ln xmlns:a="http://schemas.openxmlformats.org/drawingml/2006/main" w="9525">
            <a:solidFill>
              <a:srgbClr val="CDE5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40DED08-8AC0-4B4D-9696-0DE32143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72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C44966-1396-4D28-931E-2D9A16C4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0007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Structure reviews, enforce deterministic IDs, aggregate server-side.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10D4701-E577-4333-BD8B-06AC13BE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19750"/>
            <a:ext cx="3009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F0EC"/>
          </a:solidFill>
          <a:ln xmlns:a="http://schemas.openxmlformats.org/drawingml/2006/main" w="9525">
            <a:solidFill>
              <a:srgbClr val="91F0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3E99D1-7E64-4877-A974-0F4DDB2A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772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CB5EE0C-80DB-4DF4-893A-9DB78FDB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600075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Ranked discovery with patient, provider, admin, and community flows.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FD6FF0B-3E6D-4A6A-89C5-976C002B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1990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SYSTEM WORKFLOW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D8127F5-6748-40C9-BBDC-C6CC3730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05650"/>
            <a:ext cx="476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rPr>
              <a:t>Trust is built into the data path.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961DC60-48CB-4500-A11E-C7782810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9152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AEB6C6C-6962-405E-9DAD-1F9D375C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486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ADD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AA8209F-E27D-45FA-AC82-7800E39A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486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894bbc290443c">
            <a:extLst>
              <a:ext uri="{96DAC541-7B7A-43D3-8B79-37D633B846F1}">
                <asvg:svgBlip xmlns:asvg="http://schemas.microsoft.com/office/drawing/2016/SVG/main" r:embed="R3d1cc50f6d6741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8058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841DBC9-0915-41EE-8866-F0A2B158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Patient App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F556023-9FD7-405A-A805-87DA66D0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296275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search, bookmark, submit structured review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3800E16-B9BE-421B-B5A1-F6A05D50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868680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df82d039d4741">
            <a:extLst>
              <a:ext uri="{96DAC541-7B7A-43D3-8B79-37D633B846F1}">
                <asvg:svgBlip xmlns:asvg="http://schemas.microsoft.com/office/drawing/2016/SVG/main" r:embed="R369893887b2c46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86050" y="89630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2FCC955-A9FC-4E87-A90F-8D1284D4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011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0719977-B78A-4B8B-A8A5-A5A46BCC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ADD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4E89862-9FAD-437A-8821-A6AB34D6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89ddb228b4d12">
            <a:extLst>
              <a:ext uri="{96DAC541-7B7A-43D3-8B79-37D633B846F1}">
                <asvg:svgBlip xmlns:asvg="http://schemas.microsoft.com/office/drawing/2016/SVG/main" r:embed="R193511eb2c684e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9544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65D2A00-1A0B-4B90-875C-0741EEDF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496425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Auth + Role Gate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81087B2-6136-4DC2-9C4B-B9CC8350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782175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patient / provider / admin navigation and permissions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96D3680-FC74-4377-96AD-0503B1D2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017270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c865fcd4d449b">
            <a:extLst>
              <a:ext uri="{96DAC541-7B7A-43D3-8B79-37D633B846F1}">
                <asvg:svgBlip xmlns:asvg="http://schemas.microsoft.com/office/drawing/2016/SVG/main" r:embed="Rf39f1a8ba04449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86050" y="104489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9CD3545-CCDC-4842-9BF3-1CDE8B85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8870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939263F-BB32-4D02-AE3E-9CA76ADE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204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ADD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5771223-3183-4233-BC04-FA0CFED4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204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f8bf3a7f04f99">
            <a:extLst>
              <a:ext uri="{96DAC541-7B7A-43D3-8B79-37D633B846F1}">
                <asvg:svgBlip xmlns:asvg="http://schemas.microsoft.com/office/drawing/2016/SVG/main" r:embed="R85e84f5fad514f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10299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8DAEF7E-0CA8-4848-8B0C-6752A0EF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982325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Firestore Collections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5DD7CF2-01EA-4FAD-B5EE-86D88DE8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68075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users, providers, reviews, community_doctors, community_reviews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E2B3E6E-0275-41FF-AD74-BF6E65E2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7915275"/>
            <a:ext cx="4324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6543C66-F43F-48C7-8AAE-0CDB027E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848600"/>
            <a:ext cx="4324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ADD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8B5E66D-30BD-4345-AD17-D45C35EC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8486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f858339e9422e">
            <a:extLst>
              <a:ext uri="{96DAC541-7B7A-43D3-8B79-37D633B846F1}">
                <asvg:svgBlip xmlns:asvg="http://schemas.microsoft.com/office/drawing/2016/SVG/main" r:embed="R546a7758bb5f4e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62600" y="80581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1397F70-0E25-41F5-A695-26FDF270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801052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Structured Review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78F1458-E30B-4229-A4C4-86A8FB88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829627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overall rating plus waiting time, service, hygiene, staff communication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BE1AFCF-0E60-4DEC-ACA4-64998C5C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868680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23d930f9e4493">
            <a:extLst>
              <a:ext uri="{96DAC541-7B7A-43D3-8B79-37D633B846F1}">
                <asvg:svgBlip xmlns:asvg="http://schemas.microsoft.com/office/drawing/2016/SVG/main" r:embed="R290e9e9c400543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89630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B3027F4-8500-4688-909F-3EBB1927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9401175"/>
            <a:ext cx="4324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88BCC4E-7089-4CA8-9AE9-187AD022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334500"/>
            <a:ext cx="4324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ADD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F24ED1F-8EF3-4CBE-A31C-FD70FE38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9334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9f96808524b90">
            <a:extLst>
              <a:ext uri="{96DAC541-7B7A-43D3-8B79-37D633B846F1}">
                <asvg:svgBlip xmlns:asvg="http://schemas.microsoft.com/office/drawing/2016/SVG/main" r:embed="Re9000b756a0e47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62600" y="9544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F3AD5E4-E7DB-4B42-83C1-DC9760A5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949642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Cloud Function Aggregation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7749097-9150-4043-9918-DF824F12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978217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recalculateProviderStats recomputes averageRating and rankingScore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2927259-5EEB-4524-889A-C7EC5EC6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017270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dbd8d50764809">
            <a:extLst>
              <a:ext uri="{96DAC541-7B7A-43D3-8B79-37D633B846F1}">
                <asvg:svgBlip xmlns:asvg="http://schemas.microsoft.com/office/drawing/2016/SVG/main" r:embed="R813bf63ba8144a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104489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281B362-E551-4D8F-8D9D-BE3AB370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0887075"/>
            <a:ext cx="4324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DBD7DBF-D5A7-4E7E-A08C-98196A9D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0820400"/>
            <a:ext cx="4324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DADD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3971128-85B2-4826-9A43-78A65C15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08204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00211b97f463f">
            <a:extLst>
              <a:ext uri="{96DAC541-7B7A-43D3-8B79-37D633B846F1}">
                <asvg:svgBlip xmlns:asvg="http://schemas.microsoft.com/office/drawing/2016/SVG/main" r:embed="Rb21952ac8b5948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62600" y="110299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4C07873-1850-473D-9611-E43DA2F1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098232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Rules + Transactions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5242B0B-CDF4-4474-8425-6E90FCA1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126807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locked score fields, immutable reviews, atomic community aggregation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C4EA259-5C94-4FA2-BA01-D6FEE65F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205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CD09ED0-DEF9-4B6F-91B2-DB031709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2872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AHP-INSPIRED RANKING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66BF7FE-3658-48DA-9FC2-4A64614D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611100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rankingScore = 0.4 * averageOverallRating + 0.6 * weightedQuestionnaireScore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F3B30B5-A139-4190-957F-B8DFC189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2778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Staff communication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1E05EF5-EECA-44D8-B19F-BF1E98D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32547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6557E33-5BBF-42CD-8BC6-37A0AD63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325475"/>
            <a:ext cx="76676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E711F8F-45E2-481C-BEBD-92AEAE18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32683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845085C-4EFA-4C94-803C-10E00DED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588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Hygiene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278136E-197B-4F17-8455-34B9E502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70647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CC85520-4819-4482-B697-1AE65A3F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706475"/>
            <a:ext cx="54768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DB3B5F9-286A-429B-B0EB-E1C4B6AC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36493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C0A9FBB-55F8-47D9-82CE-532DDFDD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398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Service quality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0E2C7A7-DF69-4AA9-9E54-68EC872F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08747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FA562AF-F6AE-478F-9E90-EE485546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087475"/>
            <a:ext cx="54768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F74AA4E-9EDE-4AB3-A6B9-107CE407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0303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0D35E9E-6EF1-4396-A7FA-2B771AB8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208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Waiting time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800426C-A86F-4D42-91C7-A14A51C7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468475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2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1E6E8A5-8133-4DE9-80CD-9A5ACCB4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468475"/>
            <a:ext cx="32861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095F52B-D7B0-4DA5-85ED-1018DE63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4113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6510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510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5CF09A2-106B-4BD0-9B37-719A0F28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0205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446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4469"/>
                </a:solidFill>
                <a:latin typeface="Aptos"/>
                <a:ea typeface="Aptos"/>
                <a:cs typeface="Aptos"/>
              </a:rPr>
              <a:t>APP SURFACES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2BBB4FB-5137-4329-8162-F3207C31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063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rPr>
              <a:t>Real project screen assets.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C61DC28-7386-4A13-8852-F91F0A0C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2706350"/>
            <a:ext cx="990600" cy="2144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D32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7A61DCE-02A8-4B19-A1F3-5E7AEAEC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0"/>
            <a:ext cx="990600" cy="2144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E2C"/>
          </a:solidFill>
          <a:ln xmlns:a="http://schemas.openxmlformats.org/drawingml/2006/main" w="11430">
            <a:solidFill>
              <a:srgbClr val="061E2C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9BFFBDE-0012-4BA3-9CC8-64D9B499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696825"/>
            <a:ext cx="800100" cy="189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4f3b950f84a46"/>
          <a:srcRect xmlns:a="http://schemas.openxmlformats.org/drawingml/2006/main" l="4359" t="0" r="4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2696825"/>
            <a:ext cx="800100" cy="1896999"/>
          </a:xfrm>
          <a:prstGeom xmlns:a="http://schemas.openxmlformats.org/drawingml/2006/main" prst="rect">
            <a:avLst/>
          </a:prstGeom>
        </p:spPr>
      </p:pic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1672FCD-2091-43F9-B0E9-482BDDA6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116" y="12639675"/>
            <a:ext cx="27736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193E6AD-7A67-4BF3-ADA8-DA95EF95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4812899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5A64B8F-C4B4-4467-B2CF-FF1A1AE0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79574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1E55D04-F6ED-4AEE-83D1-A6200D2B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2706350"/>
            <a:ext cx="990600" cy="2144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D32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0E7905F-E7C6-467E-B870-652A8703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0"/>
            <a:ext cx="990600" cy="2144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E2C"/>
          </a:solidFill>
          <a:ln xmlns:a="http://schemas.openxmlformats.org/drawingml/2006/main" w="11430">
            <a:solidFill>
              <a:srgbClr val="061E2C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71CD81F-7C10-4228-B9FF-D5913346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696825"/>
            <a:ext cx="800100" cy="189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6282ee69e4c09"/>
          <a:srcRect xmlns:a="http://schemas.openxmlformats.org/drawingml/2006/main" l="4359" t="0" r="4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2696825"/>
            <a:ext cx="800100" cy="1896999"/>
          </a:xfrm>
          <a:prstGeom xmlns:a="http://schemas.openxmlformats.org/drawingml/2006/main" prst="rect">
            <a:avLst/>
          </a:prstGeom>
        </p:spPr>
      </p:pic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4B375BD-7D9F-4112-AD69-C8B626B4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616" y="12639675"/>
            <a:ext cx="27736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C7AC88F-F09C-452C-AF87-3B6415DA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4812899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8230689-044A-43A3-B537-B947A40D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879574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 form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F5F1B30-7DF0-43F1-B103-88F1AA4B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2706350"/>
            <a:ext cx="990600" cy="2144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D32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19DD6B5-6374-4F8D-A305-E05E683E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0"/>
            <a:ext cx="990600" cy="21446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E2C"/>
          </a:solidFill>
          <a:ln xmlns:a="http://schemas.openxmlformats.org/drawingml/2006/main" w="11430">
            <a:solidFill>
              <a:srgbClr val="061E2C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D53B991-8709-4EE8-8D93-FCBA2319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696825"/>
            <a:ext cx="800100" cy="189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9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95fd426ba4d68"/>
          <a:srcRect xmlns:a="http://schemas.openxmlformats.org/drawingml/2006/main" l="4359" t="0" r="4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0" y="12696825"/>
            <a:ext cx="800100" cy="1896999"/>
          </a:xfrm>
          <a:prstGeom xmlns:a="http://schemas.openxmlformats.org/drawingml/2006/main" prst="rect">
            <a:avLst/>
          </a:prstGeom>
        </p:spPr>
      </p:pic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2F3E2E0-DDFD-4F96-9CA5-259F7CDC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116" y="12639675"/>
            <a:ext cx="27736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A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386BD4AC-CBA9-4CBC-B681-80177ED8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4812899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10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D70AEEF-2391-4DCD-A163-F4BF5164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879574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C69CBA3-468F-425D-9A89-A6801A79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6A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6A68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7D1BABB-4889-4471-B1E9-2B631B9B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5257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91C1E"/>
                </a:solidFill>
                <a:latin typeface="Aptos Display"/>
                <a:ea typeface="Aptos Display"/>
                <a:cs typeface="Aptos Display"/>
              </a:rPr>
              <a:t>Checked with tests and real task sessions.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0B0CB95-0BA7-490A-A270-84F77D99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5440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9f31f25f04ff6">
            <a:extLst>
              <a:ext uri="{96DAC541-7B7A-43D3-8B79-37D633B846F1}">
                <asvg:svgBlip xmlns:asvg="http://schemas.microsoft.com/office/drawing/2016/SVG/main" r:embed="R7310617086594f9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63449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B4EA7FD-24FF-4AAA-B351-B333D38C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278225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7446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74469"/>
                </a:solidFill>
                <a:latin typeface="Aptos Display"/>
                <a:ea typeface="Aptos Display"/>
                <a:cs typeface="Aptos Display"/>
              </a:rPr>
              <a:t>154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E4DE7F70-1616-47AC-B77A-D236D8DB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59225"/>
            <a:ext cx="1314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Dart tests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3F97855B-8361-44E4-825F-98C7C405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40200"/>
            <a:ext cx="1314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unit + widget + A/B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443AC87-426A-4A6D-9E0D-6A885222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5440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75ccf1fea4055">
            <a:extLst>
              <a:ext uri="{96DAC541-7B7A-43D3-8B79-37D633B846F1}">
                <asvg:svgBlip xmlns:asvg="http://schemas.microsoft.com/office/drawing/2016/SVG/main" r:embed="R2fdae100445c48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71750" y="163449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062DFBA-85D2-4CF2-9761-978052E4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278225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6A6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6A6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5624764-E0E4-4173-B439-3B87911E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659225"/>
            <a:ext cx="1314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JS tests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91D674E-FC56-4175-BF52-F102EBEE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840200"/>
            <a:ext cx="1314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aggregation function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66AF503-0A5A-4A24-8B11-9A69440C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615440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a42b44e2a4198">
            <a:extLst>
              <a:ext uri="{96DAC541-7B7A-43D3-8B79-37D633B846F1}">
                <asvg:svgBlip xmlns:asvg="http://schemas.microsoft.com/office/drawing/2016/SVG/main" r:embed="R2b5cea23612b49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00550" y="163449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D8CFFEB-F5A9-4534-B59D-59789035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278225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6510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76510E"/>
                </a:solidFill>
                <a:latin typeface="Aptos Display"/>
                <a:ea typeface="Aptos Display"/>
                <a:cs typeface="Aptos Display"/>
              </a:rPr>
              <a:t>78.1%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BFFFBD09-E781-41D1-88BB-BFE2E66C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659225"/>
            <a:ext cx="1314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A4549CBC-B081-45C2-881B-AE171128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40200"/>
            <a:ext cx="1314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~92% effective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7DC06C2-D79B-43FA-8F26-BBCDD8A6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15440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fbf519b124fd3">
            <a:extLst>
              <a:ext uri="{96DAC541-7B7A-43D3-8B79-37D633B846F1}">
                <asvg:svgBlip xmlns:asvg="http://schemas.microsoft.com/office/drawing/2016/SVG/main" r:embed="R2400eccfeedd42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29350" y="163449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EEF2250E-FCA8-43A6-8E1B-DF908232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278225"/>
            <a:ext cx="102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5C82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A5C82"/>
                </a:solidFill>
                <a:latin typeface="Aptos Display"/>
                <a:ea typeface="Aptos Display"/>
                <a:cs typeface="Aptos Display"/>
              </a:rPr>
              <a:t>86.7%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2FB7DA6-EF27-4AC5-B4AB-61AC65D9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659225"/>
            <a:ext cx="1314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Task completion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B267CB6-D640-44B4-A58F-5857A822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840200"/>
            <a:ext cx="1314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26/30 attempts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6C7FAF5-2232-4C1E-A679-4F6A3C4A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154400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5e324bf174571">
            <a:extLst>
              <a:ext uri="{96DAC541-7B7A-43D3-8B79-37D633B846F1}">
                <asvg:svgBlip xmlns:asvg="http://schemas.microsoft.com/office/drawing/2016/SVG/main" r:embed="R611aa1487a1845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58150" y="163449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B17251D-FE0A-49A8-AF60-8ABA8BEF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278225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6A68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06A68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62239B1B-DB03-450D-BA45-E7EAAD93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59225"/>
            <a:ext cx="1447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Participants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2D679EE-2ADC-45A6-BAE2-6B0B4C53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840200"/>
            <a:ext cx="1447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SUS + think-aloud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22BA056-C1D4-4738-8324-88680994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593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SUS score distribution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DC40C1A-2738-4533-B088-719293FD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879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P1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B746DC5-FD4D-48DF-BA41-B6A096F2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76495"/>
            <a:ext cx="228600" cy="4972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782F8B55-3B4D-4238-BC2B-E9DC8528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308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F536310D-1B7B-4387-9DD8-A25A9C67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4879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P2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ED474AB-4D07-49D7-99A8-5FC4FE23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770412"/>
            <a:ext cx="228600" cy="403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37434FE-2E5F-4CA7-ADE2-89F97B4F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2308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73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988CC24-BF61-4ECC-A56B-F0415044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4879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P3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BBD833D-F255-4892-9DEA-4800CBCA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7704118"/>
            <a:ext cx="228600" cy="4695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4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3C85D75-9A83-4F92-B708-81712BC1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2308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85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32EEDD95-138C-4062-9003-F1C4121F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4879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P4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8F335918-08D4-40A1-A78C-979FB456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632299"/>
            <a:ext cx="228600" cy="5414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B632732-7F11-4AE8-9551-EAEAC9A4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2308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98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E4710DB-ED0D-4E70-8EB1-3B33161D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4879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P5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DBD960E-3CA6-4D51-BEA7-ADB580A4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880902"/>
            <a:ext cx="228600" cy="292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1A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6A6946A-22DB-4DB3-BD69-3DB66E0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2308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33C1CF5-7F3C-4BDA-AC31-B93282A2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4879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1474E"/>
                </a:solidFill>
                <a:latin typeface="Aptos"/>
                <a:ea typeface="Aptos"/>
                <a:cs typeface="Aptos"/>
              </a:rPr>
              <a:t>P6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CC9B2E1-FD0B-4AB8-BA32-1B403A8E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759363"/>
            <a:ext cx="228600" cy="414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8F09AFA1-F170-4AD1-8BFC-C2101744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308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626562E-0875-4CD7-91E2-AE90A2EE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16450"/>
            <a:ext cx="5295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7"/>
          </a:solidFill>
          <a:ln xmlns:a="http://schemas.openxmlformats.org/drawingml/2006/main" w="9525">
            <a:solidFill>
              <a:srgbClr val="D9DADD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84B3490-74F0-42E5-9800-96721087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4688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1C1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91C1E"/>
                </a:solidFill>
                <a:latin typeface="Aptos"/>
                <a:ea typeface="Aptos"/>
                <a:cs typeface="Aptos"/>
              </a:rPr>
              <a:t>Mean SUS: 78.75 (B - Good)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BC5469D-EBC3-4BD6-AB7C-A00684DC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54600"/>
            <a:ext cx="464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Above industry average (68) and healthcare-app average (71.4). Next sprint: search affordance, bookmark label, emulator-backed integration coverage.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D7F3141-FE86-4B77-8891-5E5FA754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784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C7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B4B09059-97AE-44E7-ABA6-DF8CB6DE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6895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41474E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41474E"/>
                </a:solidFill>
                <a:latin typeface="Aptos"/>
                <a:ea typeface="Aptos"/>
                <a:cs typeface="Aptos"/>
              </a:rPr>
              <a:t>Sources: README.md, PRODUCT.md, DESIGN.md, TEST_REPORT.md, USABILITY_TEST.md, STUDY_GUIDE.md, functions/src/aggregation.js, firestore.rules, lib/services/firestore_service.dart</a:t>
            </a:r>
          </a:p>
        </p:txBody>
      </p:sp>
    </p:spTree>
    <p:extLst>
      <p:ext uri="{BB962C8B-B14F-4D97-AF65-F5344CB8AC3E}">
        <p14:creationId xmlns:p14="http://schemas.microsoft.com/office/powerpoint/2010/main" val="1959553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2026-05-27T20:10:01.9880000Z</dcterms:created>
  <dcterms:modified xsi:type="dcterms:W3CDTF">2026-05-27T20:10:01.9880000Z</dcterms:modified>
</coreProperties>
</file>