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287000" cy="1828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49" d="100"/>
          <a:sy n="49" d="100"/>
        </p:scale>
        <p:origin x="3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37">
            <a:extLst>
              <a:ext uri="{FF2B5EF4-FFF2-40B4-BE49-F238E27FC236}">
                <a16:creationId xmlns:a16="http://schemas.microsoft.com/office/drawing/2014/main" id="{077FB411-4AFB-457D-8511-F70C31A28D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3050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F7D06C-9625-40AB-BD99-2E682F7149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2400300"/>
          </a:xfrm>
          <a:prstGeom prst="rect">
            <a:avLst/>
          </a:prstGeom>
          <a:solidFill>
            <a:srgbClr val="02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C9814-347C-4FFF-A122-5C55F4B27BB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47750" cy="38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F4B659-1F74-42A3-83C2-C55BF9A3080E}"/>
              </a:ext>
            </a:extLst>
          </p:cNvPr>
          <p:cNvSpPr>
            <a:spLocks noGrp="1"/>
          </p:cNvSpPr>
          <p:nvPr/>
        </p:nvSpPr>
        <p:spPr>
          <a:xfrm>
            <a:off x="8686800" y="400050"/>
            <a:ext cx="1047750" cy="38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EBD43-75C7-4756-B35D-C5280E93BEB3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60960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C7C17-9BAC-4C60-80E7-E710692252B5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400050" cy="57150"/>
          </a:xfrm>
          <a:prstGeom prst="rect">
            <a:avLst/>
          </a:prstGeom>
          <a:solidFill>
            <a:srgbClr val="2769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BDFCB8-2111-4230-93EF-13B0890F993F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400050" cy="57150"/>
          </a:xfrm>
          <a:prstGeom prst="rect">
            <a:avLst/>
          </a:prstGeom>
          <a:solidFill>
            <a:srgbClr val="2769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4AA3B-8041-495E-AB00-CBE75766981B}"/>
              </a:ext>
            </a:extLst>
          </p:cNvPr>
          <p:cNvSpPr>
            <a:spLocks noGrp="1"/>
          </p:cNvSpPr>
          <p:nvPr/>
        </p:nvSpPr>
        <p:spPr>
          <a:xfrm>
            <a:off x="8858250" y="2133600"/>
            <a:ext cx="60960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8DB6C5-9824-4864-9B92-1D8D86B8CB58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028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300" b="1">
                <a:solidFill>
                  <a:srgbClr val="FFB4C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B4C8"/>
                </a:solidFill>
                <a:latin typeface="Aptos Display"/>
                <a:ea typeface="Aptos Display"/>
                <a:cs typeface="Aptos Display"/>
              </a:rPr>
              <a:t>DRAPO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F4AE95-50BA-4622-B6FB-7834DDEF11A3}"/>
              </a:ext>
            </a:extLst>
          </p:cNvPr>
          <p:cNvSpPr>
            <a:spLocks noGrp="1"/>
          </p:cNvSpPr>
          <p:nvPr/>
        </p:nvSpPr>
        <p:spPr>
          <a:xfrm>
            <a:off x="1352550" y="838200"/>
            <a:ext cx="7581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Patient-Centric Rating and Evaluation Platform for Healthcare Providers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3AB162-DD73-4226-AE37-D62486F0A64F}"/>
              </a:ext>
            </a:extLst>
          </p:cNvPr>
          <p:cNvSpPr>
            <a:spLocks noGrp="1"/>
          </p:cNvSpPr>
          <p:nvPr/>
        </p:nvSpPr>
        <p:spPr>
          <a:xfrm>
            <a:off x="0" y="1409700"/>
            <a:ext cx="1028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769D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769D8"/>
                </a:solidFill>
                <a:latin typeface="Aptos Display"/>
                <a:ea typeface="Aptos Display"/>
                <a:cs typeface="Aptos Display"/>
              </a:rPr>
              <a:t>CMPE/ISE/SE 494 Senior Project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8AEC2-CE5F-42B0-866C-A8F5A9CF8568}"/>
              </a:ext>
            </a:extLst>
          </p:cNvPr>
          <p:cNvSpPr>
            <a:spLocks noGrp="1"/>
          </p:cNvSpPr>
          <p:nvPr/>
        </p:nvSpPr>
        <p:spPr>
          <a:xfrm>
            <a:off x="0" y="1847850"/>
            <a:ext cx="1028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7E7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7FF"/>
                </a:solidFill>
                <a:latin typeface="Aptos"/>
                <a:ea typeface="Aptos"/>
                <a:cs typeface="Aptos"/>
              </a:rPr>
              <a:t>Supervisor: Prof. Dr. Hürevren KILIÇ | Flutter + Firebase independent decision-support mobile app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DD0A4D-7524-4AE7-AE4C-08B1148973C7}"/>
              </a:ext>
            </a:extLst>
          </p:cNvPr>
          <p:cNvSpPr>
            <a:spLocks noGrp="1"/>
          </p:cNvSpPr>
          <p:nvPr/>
        </p:nvSpPr>
        <p:spPr>
          <a:xfrm>
            <a:off x="419100" y="2266950"/>
            <a:ext cx="9448800" cy="38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576ACF-9AD8-45D7-A651-3EC28D9D7638}"/>
              </a:ext>
            </a:extLst>
          </p:cNvPr>
          <p:cNvSpPr>
            <a:spLocks noGrp="1"/>
          </p:cNvSpPr>
          <p:nvPr/>
        </p:nvSpPr>
        <p:spPr>
          <a:xfrm>
            <a:off x="371475" y="2809875"/>
            <a:ext cx="2876550" cy="18288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3545F8-2D30-419D-82B5-02E3DB529E22}"/>
              </a:ext>
            </a:extLst>
          </p:cNvPr>
          <p:cNvSpPr>
            <a:spLocks noGrp="1"/>
          </p:cNvSpPr>
          <p:nvPr/>
        </p:nvSpPr>
        <p:spPr>
          <a:xfrm>
            <a:off x="304800" y="2724150"/>
            <a:ext cx="2876550" cy="182880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1F40BD-5B43-482D-97A6-75F4C4FDB308}"/>
              </a:ext>
            </a:extLst>
          </p:cNvPr>
          <p:cNvSpPr>
            <a:spLocks noGrp="1"/>
          </p:cNvSpPr>
          <p:nvPr/>
        </p:nvSpPr>
        <p:spPr>
          <a:xfrm>
            <a:off x="304800" y="2724150"/>
            <a:ext cx="287655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5E66C5-8849-48CA-8B80-07DC1DFD0E7C}"/>
              </a:ext>
            </a:extLst>
          </p:cNvPr>
          <p:cNvSpPr>
            <a:spLocks noGrp="1"/>
          </p:cNvSpPr>
          <p:nvPr/>
        </p:nvSpPr>
        <p:spPr>
          <a:xfrm>
            <a:off x="438150" y="281940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97C17B-903B-44F4-A178-BF8A632F0D58}"/>
              </a:ext>
            </a:extLst>
          </p:cNvPr>
          <p:cNvSpPr>
            <a:spLocks noGrp="1"/>
          </p:cNvSpPr>
          <p:nvPr/>
        </p:nvSpPr>
        <p:spPr>
          <a:xfrm>
            <a:off x="495300" y="32956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DRAPO Dev Team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CA1C90-0946-4994-8CF2-D4F9C0D3E011}"/>
              </a:ext>
            </a:extLst>
          </p:cNvPr>
          <p:cNvSpPr>
            <a:spLocks noGrp="1"/>
          </p:cNvSpPr>
          <p:nvPr/>
        </p:nvSpPr>
        <p:spPr>
          <a:xfrm>
            <a:off x="514350" y="3467100"/>
            <a:ext cx="1485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3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Ahmed Nasser Haidar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53952A-BFC1-45BD-8A42-C5CABAC885D2}"/>
              </a:ext>
            </a:extLst>
          </p:cNvPr>
          <p:cNvSpPr>
            <a:spLocks noGrp="1"/>
          </p:cNvSpPr>
          <p:nvPr/>
        </p:nvSpPr>
        <p:spPr>
          <a:xfrm>
            <a:off x="2019300" y="3467100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20244710088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853DC1-3EAF-411C-AF31-28F615F33FF3}"/>
              </a:ext>
            </a:extLst>
          </p:cNvPr>
          <p:cNvSpPr>
            <a:spLocks noGrp="1"/>
          </p:cNvSpPr>
          <p:nvPr/>
        </p:nvSpPr>
        <p:spPr>
          <a:xfrm>
            <a:off x="514350" y="3609975"/>
            <a:ext cx="1485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3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Ruşen Emir Ramazanoğlu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8DA823-28EE-48DA-A48C-C47C46B083D3}"/>
              </a:ext>
            </a:extLst>
          </p:cNvPr>
          <p:cNvSpPr>
            <a:spLocks noGrp="1"/>
          </p:cNvSpPr>
          <p:nvPr/>
        </p:nvSpPr>
        <p:spPr>
          <a:xfrm>
            <a:off x="2019300" y="3609975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21243510122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37B809-28B0-4643-B55E-2BBCD273D734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1485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3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Alireza Rahmani Ghahroudi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60184C-12CF-4347-9C2C-5C8B88DE483A}"/>
              </a:ext>
            </a:extLst>
          </p:cNvPr>
          <p:cNvSpPr>
            <a:spLocks noGrp="1"/>
          </p:cNvSpPr>
          <p:nvPr/>
        </p:nvSpPr>
        <p:spPr>
          <a:xfrm>
            <a:off x="2019300" y="3752850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20243510082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26A50E-40AC-433F-B4AB-EC3DE5FDB4E9}"/>
              </a:ext>
            </a:extLst>
          </p:cNvPr>
          <p:cNvSpPr>
            <a:spLocks noGrp="1"/>
          </p:cNvSpPr>
          <p:nvPr/>
        </p:nvSpPr>
        <p:spPr>
          <a:xfrm>
            <a:off x="514350" y="3895725"/>
            <a:ext cx="1485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3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Parnia Helchi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644183-C46D-4DFA-861B-230443D0DEA7}"/>
              </a:ext>
            </a:extLst>
          </p:cNvPr>
          <p:cNvSpPr>
            <a:spLocks noGrp="1"/>
          </p:cNvSpPr>
          <p:nvPr/>
        </p:nvSpPr>
        <p:spPr>
          <a:xfrm>
            <a:off x="2019300" y="3895725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22243610087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A58AB0-5909-4D04-A784-CBE8D572F2C7}"/>
              </a:ext>
            </a:extLst>
          </p:cNvPr>
          <p:cNvSpPr>
            <a:spLocks noGrp="1"/>
          </p:cNvSpPr>
          <p:nvPr/>
        </p:nvSpPr>
        <p:spPr>
          <a:xfrm>
            <a:off x="514350" y="4038600"/>
            <a:ext cx="1485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3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Omer Ahmed Awni Alobaida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5670E7-5AA5-4438-937A-D38EACA6A133}"/>
              </a:ext>
            </a:extLst>
          </p:cNvPr>
          <p:cNvSpPr>
            <a:spLocks noGrp="1"/>
          </p:cNvSpPr>
          <p:nvPr/>
        </p:nvSpPr>
        <p:spPr>
          <a:xfrm>
            <a:off x="2019300" y="4038600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20244710103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0DD9A-7AC6-4224-B148-E8EFF598EB8F}"/>
              </a:ext>
            </a:extLst>
          </p:cNvPr>
          <p:cNvSpPr>
            <a:spLocks noGrp="1"/>
          </p:cNvSpPr>
          <p:nvPr/>
        </p:nvSpPr>
        <p:spPr>
          <a:xfrm>
            <a:off x="514350" y="4181475"/>
            <a:ext cx="1485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93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593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Aleyna Duru Koç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0F696A-E142-46A2-B733-2FD3BE13BC2E}"/>
              </a:ext>
            </a:extLst>
          </p:cNvPr>
          <p:cNvSpPr>
            <a:spLocks noGrp="1"/>
          </p:cNvSpPr>
          <p:nvPr/>
        </p:nvSpPr>
        <p:spPr>
          <a:xfrm>
            <a:off x="2019300" y="4181475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24244710045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7E168F-1BD1-4909-807B-845AF075BFCF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2286000" cy="9525"/>
          </a:xfrm>
          <a:prstGeom prst="rect">
            <a:avLst/>
          </a:prstGeom>
          <a:solidFill>
            <a:srgbClr val="D7DC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AE2707-492B-4911-8932-A93263720DB5}"/>
              </a:ext>
            </a:extLst>
          </p:cNvPr>
          <p:cNvSpPr>
            <a:spLocks noGrp="1"/>
          </p:cNvSpPr>
          <p:nvPr/>
        </p:nvSpPr>
        <p:spPr>
          <a:xfrm>
            <a:off x="514350" y="4400550"/>
            <a:ext cx="2286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3" b="1">
                <a:solidFill>
                  <a:srgbClr val="A90438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A90438"/>
                </a:solidFill>
                <a:latin typeface="Aptos"/>
                <a:ea typeface="Aptos"/>
                <a:cs typeface="Aptos"/>
              </a:rPr>
              <a:t>Supervisor: Prof. Dr. Hürevren KILIÇ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1DE66A-37CF-41AD-B97F-43A22D4EF93E}"/>
              </a:ext>
            </a:extLst>
          </p:cNvPr>
          <p:cNvSpPr>
            <a:spLocks noGrp="1"/>
          </p:cNvSpPr>
          <p:nvPr/>
        </p:nvSpPr>
        <p:spPr>
          <a:xfrm>
            <a:off x="371475" y="4943475"/>
            <a:ext cx="2876550" cy="24765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CF3DF6-3D4D-49E4-80A0-8F14370DF52A}"/>
              </a:ext>
            </a:extLst>
          </p:cNvPr>
          <p:cNvSpPr>
            <a:spLocks noGrp="1"/>
          </p:cNvSpPr>
          <p:nvPr/>
        </p:nvSpPr>
        <p:spPr>
          <a:xfrm>
            <a:off x="304800" y="4857750"/>
            <a:ext cx="2876550" cy="247650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F9DD45-BAC1-493C-BE6A-A39360A4B7FA}"/>
              </a:ext>
            </a:extLst>
          </p:cNvPr>
          <p:cNvSpPr>
            <a:spLocks noGrp="1"/>
          </p:cNvSpPr>
          <p:nvPr/>
        </p:nvSpPr>
        <p:spPr>
          <a:xfrm>
            <a:off x="304800" y="4857750"/>
            <a:ext cx="287655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2D8C34-DD89-469D-9F95-F6A5846BF907}"/>
              </a:ext>
            </a:extLst>
          </p:cNvPr>
          <p:cNvSpPr>
            <a:spLocks noGrp="1"/>
          </p:cNvSpPr>
          <p:nvPr/>
        </p:nvSpPr>
        <p:spPr>
          <a:xfrm>
            <a:off x="438150" y="495300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Objective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BAD17A-CC8E-4B46-AB32-EE6FFE05D31B}"/>
              </a:ext>
            </a:extLst>
          </p:cNvPr>
          <p:cNvSpPr>
            <a:spLocks noGrp="1"/>
          </p:cNvSpPr>
          <p:nvPr/>
        </p:nvSpPr>
        <p:spPr>
          <a:xfrm>
            <a:off x="514350" y="5600700"/>
            <a:ext cx="2400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Reduce healthcare information asymmetry by turning real post-visit experiences into structured, comparable provider rankings for doctors, pharmacies, and clinics.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83B955-DF26-4869-8A3A-0B0FE6B3A3CF}"/>
              </a:ext>
            </a:extLst>
          </p:cNvPr>
          <p:cNvSpPr>
            <a:spLocks noGrp="1"/>
          </p:cNvSpPr>
          <p:nvPr/>
        </p:nvSpPr>
        <p:spPr>
          <a:xfrm>
            <a:off x="514350" y="6286500"/>
            <a:ext cx="2381250" cy="685800"/>
          </a:xfrm>
          <a:prstGeom prst="rect">
            <a:avLst/>
          </a:prstGeom>
          <a:solidFill>
            <a:srgbClr val="E8F2FB"/>
          </a:solidFill>
          <a:ln w="9525">
            <a:solidFill>
              <a:srgbClr val="CDE5FF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2AD4C38-3F9C-47C4-8535-3FD20BC58AAE}"/>
              </a:ext>
            </a:extLst>
          </p:cNvPr>
          <p:cNvSpPr>
            <a:spLocks noGrp="1"/>
          </p:cNvSpPr>
          <p:nvPr/>
        </p:nvSpPr>
        <p:spPr>
          <a:xfrm>
            <a:off x="647700" y="6400800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Project stance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D15F42-1966-41E6-A553-036127ED5EF0}"/>
              </a:ext>
            </a:extLst>
          </p:cNvPr>
          <p:cNvSpPr>
            <a:spLocks noGrp="1"/>
          </p:cNvSpPr>
          <p:nvPr/>
        </p:nvSpPr>
        <p:spPr>
          <a:xfrm>
            <a:off x="647700" y="65913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DRAPO is not a hospital record system. It stores no diagnoses, prescriptions, or treatment histories; it focuses on non-clinical service quality.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019DD9-0666-4F9E-8AE7-709C32782C39}"/>
              </a:ext>
            </a:extLst>
          </p:cNvPr>
          <p:cNvSpPr>
            <a:spLocks noGrp="1"/>
          </p:cNvSpPr>
          <p:nvPr/>
        </p:nvSpPr>
        <p:spPr>
          <a:xfrm>
            <a:off x="533400" y="70675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3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Outcome: help patients choose with evidence while giving providers feedback they can act on.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D789FB-24AE-42CA-9BA9-7E09CCC9ADAC}"/>
              </a:ext>
            </a:extLst>
          </p:cNvPr>
          <p:cNvSpPr>
            <a:spLocks noGrp="1"/>
          </p:cNvSpPr>
          <p:nvPr/>
        </p:nvSpPr>
        <p:spPr>
          <a:xfrm>
            <a:off x="371475" y="7762875"/>
            <a:ext cx="2876550" cy="28575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20EF96-641D-4C8B-A978-255D2DC47654}"/>
              </a:ext>
            </a:extLst>
          </p:cNvPr>
          <p:cNvSpPr>
            <a:spLocks noGrp="1"/>
          </p:cNvSpPr>
          <p:nvPr/>
        </p:nvSpPr>
        <p:spPr>
          <a:xfrm>
            <a:off x="304800" y="7677150"/>
            <a:ext cx="2876550" cy="285750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E51621-9D60-4A01-A26C-C4B70C349B25}"/>
              </a:ext>
            </a:extLst>
          </p:cNvPr>
          <p:cNvSpPr>
            <a:spLocks noGrp="1"/>
          </p:cNvSpPr>
          <p:nvPr/>
        </p:nvSpPr>
        <p:spPr>
          <a:xfrm>
            <a:off x="304800" y="7677150"/>
            <a:ext cx="287655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1675DF-6FDE-48FF-AFCB-37BEFC651569}"/>
              </a:ext>
            </a:extLst>
          </p:cNvPr>
          <p:cNvSpPr>
            <a:spLocks noGrp="1"/>
          </p:cNvSpPr>
          <p:nvPr/>
        </p:nvSpPr>
        <p:spPr>
          <a:xfrm>
            <a:off x="438150" y="777240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Areas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8F396A-7E77-408C-971A-18AEB4E4CD5F}"/>
              </a:ext>
            </a:extLst>
          </p:cNvPr>
          <p:cNvSpPr>
            <a:spLocks noGrp="1"/>
          </p:cNvSpPr>
          <p:nvPr/>
        </p:nvSpPr>
        <p:spPr>
          <a:xfrm>
            <a:off x="514350" y="8286750"/>
            <a:ext cx="2381250" cy="304800"/>
          </a:xfrm>
          <a:prstGeom prst="rect">
            <a:avLst/>
          </a:prstGeom>
          <a:solidFill>
            <a:srgbClr val="F4F8FB"/>
          </a:solidFill>
          <a:ln w="952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9179D3-246F-4693-A975-5ADA8DE353F1}"/>
              </a:ext>
            </a:extLst>
          </p:cNvPr>
          <p:cNvSpPr>
            <a:spLocks noGrp="1"/>
          </p:cNvSpPr>
          <p:nvPr/>
        </p:nvSpPr>
        <p:spPr>
          <a:xfrm>
            <a:off x="647700" y="835342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30E6A0-DF81-4133-9FFC-320F0341F386}"/>
              </a:ext>
            </a:extLst>
          </p:cNvPr>
          <p:cNvSpPr>
            <a:spLocks noGrp="1"/>
          </p:cNvSpPr>
          <p:nvPr/>
        </p:nvSpPr>
        <p:spPr>
          <a:xfrm>
            <a:off x="1428750" y="835342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search, compare, save, and review providers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BBCEC6-8C7D-49C6-8C95-8D97748D6459}"/>
              </a:ext>
            </a:extLst>
          </p:cNvPr>
          <p:cNvSpPr>
            <a:spLocks noGrp="1"/>
          </p:cNvSpPr>
          <p:nvPr/>
        </p:nvSpPr>
        <p:spPr>
          <a:xfrm>
            <a:off x="514350" y="8686800"/>
            <a:ext cx="2381250" cy="304800"/>
          </a:xfrm>
          <a:prstGeom prst="rect">
            <a:avLst/>
          </a:prstGeom>
          <a:solidFill>
            <a:srgbClr val="EFFBF9"/>
          </a:solidFill>
          <a:ln w="952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556F2F-5B1C-4B00-AAD8-504620D9EB7B}"/>
              </a:ext>
            </a:extLst>
          </p:cNvPr>
          <p:cNvSpPr>
            <a:spLocks noGrp="1"/>
          </p:cNvSpPr>
          <p:nvPr/>
        </p:nvSpPr>
        <p:spPr>
          <a:xfrm>
            <a:off x="647700" y="875347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Providers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D2FA58F-700B-449E-950F-D91B4A53DD42}"/>
              </a:ext>
            </a:extLst>
          </p:cNvPr>
          <p:cNvSpPr>
            <a:spLocks noGrp="1"/>
          </p:cNvSpPr>
          <p:nvPr/>
        </p:nvSpPr>
        <p:spPr>
          <a:xfrm>
            <a:off x="1428750" y="875347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monitor trends, strengths, and improvement areas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3761FB3-7593-49D8-A043-922F6B9CE410}"/>
              </a:ext>
            </a:extLst>
          </p:cNvPr>
          <p:cNvSpPr>
            <a:spLocks noGrp="1"/>
          </p:cNvSpPr>
          <p:nvPr/>
        </p:nvSpPr>
        <p:spPr>
          <a:xfrm>
            <a:off x="514350" y="9086850"/>
            <a:ext cx="2381250" cy="304800"/>
          </a:xfrm>
          <a:prstGeom prst="rect">
            <a:avLst/>
          </a:prstGeom>
          <a:solidFill>
            <a:srgbClr val="F4F8FB"/>
          </a:solidFill>
          <a:ln w="952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582B86-54A2-4634-8A7F-879AA310A610}"/>
              </a:ext>
            </a:extLst>
          </p:cNvPr>
          <p:cNvSpPr>
            <a:spLocks noGrp="1"/>
          </p:cNvSpPr>
          <p:nvPr/>
        </p:nvSpPr>
        <p:spPr>
          <a:xfrm>
            <a:off x="647700" y="915352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Admins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41AA582-92D5-4A37-8BD9-4BF38DAE7C63}"/>
              </a:ext>
            </a:extLst>
          </p:cNvPr>
          <p:cNvSpPr>
            <a:spLocks noGrp="1"/>
          </p:cNvSpPr>
          <p:nvPr/>
        </p:nvSpPr>
        <p:spPr>
          <a:xfrm>
            <a:off x="1428750" y="915352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moderate data and maintain provider quality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2FD775A-E2C6-461D-89FB-ED4E05E05D7A}"/>
              </a:ext>
            </a:extLst>
          </p:cNvPr>
          <p:cNvSpPr>
            <a:spLocks noGrp="1"/>
          </p:cNvSpPr>
          <p:nvPr/>
        </p:nvSpPr>
        <p:spPr>
          <a:xfrm>
            <a:off x="514350" y="9486900"/>
            <a:ext cx="2381250" cy="304800"/>
          </a:xfrm>
          <a:prstGeom prst="rect">
            <a:avLst/>
          </a:prstGeom>
          <a:solidFill>
            <a:srgbClr val="EFFBF9"/>
          </a:solidFill>
          <a:ln w="952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316E12E-2B52-4D87-99E1-AB755C28AA59}"/>
              </a:ext>
            </a:extLst>
          </p:cNvPr>
          <p:cNvSpPr>
            <a:spLocks noGrp="1"/>
          </p:cNvSpPr>
          <p:nvPr/>
        </p:nvSpPr>
        <p:spPr>
          <a:xfrm>
            <a:off x="647700" y="955357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Service quality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A910F7D-E1AD-49EF-B7EB-1B9EC5CA3920}"/>
              </a:ext>
            </a:extLst>
          </p:cNvPr>
          <p:cNvSpPr>
            <a:spLocks noGrp="1"/>
          </p:cNvSpPr>
          <p:nvPr/>
        </p:nvSpPr>
        <p:spPr>
          <a:xfrm>
            <a:off x="1428750" y="955357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measure waiting time, cleanliness, empathy, professionalism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FCB956B-AACD-41A4-9F47-EC4B554E2391}"/>
              </a:ext>
            </a:extLst>
          </p:cNvPr>
          <p:cNvSpPr>
            <a:spLocks noGrp="1"/>
          </p:cNvSpPr>
          <p:nvPr/>
        </p:nvSpPr>
        <p:spPr>
          <a:xfrm>
            <a:off x="514350" y="9886950"/>
            <a:ext cx="2381250" cy="304800"/>
          </a:xfrm>
          <a:prstGeom prst="rect">
            <a:avLst/>
          </a:prstGeom>
          <a:solidFill>
            <a:srgbClr val="F4F8FB"/>
          </a:solidFill>
          <a:ln w="9525">
            <a:solidFill>
              <a:srgbClr val="E2E6E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12E80CD-4DDA-4A40-8A22-C9D1783C6A26}"/>
              </a:ext>
            </a:extLst>
          </p:cNvPr>
          <p:cNvSpPr>
            <a:spLocks noGrp="1"/>
          </p:cNvSpPr>
          <p:nvPr/>
        </p:nvSpPr>
        <p:spPr>
          <a:xfrm>
            <a:off x="647700" y="995362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Public value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681CD0-E75F-4CDC-B457-010DA8FFE8BD}"/>
              </a:ext>
            </a:extLst>
          </p:cNvPr>
          <p:cNvSpPr>
            <a:spLocks noGrp="1"/>
          </p:cNvSpPr>
          <p:nvPr/>
        </p:nvSpPr>
        <p:spPr>
          <a:xfrm>
            <a:off x="1428750" y="995362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support transparency, accountability, and SDG 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6ABA84-7D1A-432C-8587-CEFAA70FD0A3}"/>
              </a:ext>
            </a:extLst>
          </p:cNvPr>
          <p:cNvSpPr>
            <a:spLocks noGrp="1"/>
          </p:cNvSpPr>
          <p:nvPr/>
        </p:nvSpPr>
        <p:spPr>
          <a:xfrm>
            <a:off x="371475" y="10963275"/>
            <a:ext cx="2876550" cy="26670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EBA1F87-3AF4-4AAE-8B72-32E5C44CB2E6}"/>
              </a:ext>
            </a:extLst>
          </p:cNvPr>
          <p:cNvSpPr>
            <a:spLocks noGrp="1"/>
          </p:cNvSpPr>
          <p:nvPr/>
        </p:nvSpPr>
        <p:spPr>
          <a:xfrm>
            <a:off x="304800" y="10877550"/>
            <a:ext cx="2876550" cy="266700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E5915C7-54FA-4541-AA16-FDD8A80011EE}"/>
              </a:ext>
            </a:extLst>
          </p:cNvPr>
          <p:cNvSpPr>
            <a:spLocks noGrp="1"/>
          </p:cNvSpPr>
          <p:nvPr/>
        </p:nvSpPr>
        <p:spPr>
          <a:xfrm>
            <a:off x="304800" y="10877550"/>
            <a:ext cx="287655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823964A-66F6-434E-A9E8-517F784A2907}"/>
              </a:ext>
            </a:extLst>
          </p:cNvPr>
          <p:cNvSpPr>
            <a:spLocks noGrp="1"/>
          </p:cNvSpPr>
          <p:nvPr/>
        </p:nvSpPr>
        <p:spPr>
          <a:xfrm>
            <a:off x="438150" y="10972800"/>
            <a:ext cx="2609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Evidence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C5DA8EB-31E6-4A09-91F9-5F88EE078ADD}"/>
              </a:ext>
            </a:extLst>
          </p:cNvPr>
          <p:cNvSpPr>
            <a:spLocks noGrp="1"/>
          </p:cNvSpPr>
          <p:nvPr/>
        </p:nvSpPr>
        <p:spPr>
          <a:xfrm>
            <a:off x="514350" y="11468100"/>
            <a:ext cx="1238250" cy="590550"/>
          </a:xfrm>
          <a:prstGeom prst="rect">
            <a:avLst/>
          </a:prstGeom>
          <a:solidFill>
            <a:srgbClr val="F4F8FB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6" name="Graphic 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19125" y="11630025"/>
            <a:ext cx="209550" cy="20955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D2926098-4FCB-4D22-8A5F-F51A1222A90E}"/>
              </a:ext>
            </a:extLst>
          </p:cNvPr>
          <p:cNvSpPr>
            <a:spLocks noGrp="1"/>
          </p:cNvSpPr>
          <p:nvPr/>
        </p:nvSpPr>
        <p:spPr>
          <a:xfrm>
            <a:off x="895350" y="11553825"/>
            <a:ext cx="742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22D105F-483B-4FAE-8CED-E1DFA7477FD2}"/>
              </a:ext>
            </a:extLst>
          </p:cNvPr>
          <p:cNvSpPr>
            <a:spLocks noGrp="1"/>
          </p:cNvSpPr>
          <p:nvPr/>
        </p:nvSpPr>
        <p:spPr>
          <a:xfrm>
            <a:off x="628650" y="11839575"/>
            <a:ext cx="1028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46515D"/>
                </a:solidFill>
                <a:latin typeface="Aptos"/>
                <a:ea typeface="Aptos"/>
                <a:cs typeface="Aptos"/>
              </a:rPr>
              <a:t>Scrum sprints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0230D8D-FE79-4B74-9D64-2CFFB1E01C73}"/>
              </a:ext>
            </a:extLst>
          </p:cNvPr>
          <p:cNvSpPr>
            <a:spLocks noGrp="1"/>
          </p:cNvSpPr>
          <p:nvPr/>
        </p:nvSpPr>
        <p:spPr>
          <a:xfrm>
            <a:off x="1752600" y="11468100"/>
            <a:ext cx="1238250" cy="590550"/>
          </a:xfrm>
          <a:prstGeom prst="rect">
            <a:avLst/>
          </a:prstGeom>
          <a:solidFill>
            <a:srgbClr val="F4F8FB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0" name="Graphic 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857375" y="11630025"/>
            <a:ext cx="209550" cy="209550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A6662ED5-10DC-48D8-9B6B-6FD26FDCF9B9}"/>
              </a:ext>
            </a:extLst>
          </p:cNvPr>
          <p:cNvSpPr>
            <a:spLocks noGrp="1"/>
          </p:cNvSpPr>
          <p:nvPr/>
        </p:nvSpPr>
        <p:spPr>
          <a:xfrm>
            <a:off x="2133600" y="11553825"/>
            <a:ext cx="742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744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4469"/>
                </a:solidFill>
                <a:latin typeface="Aptos Display"/>
                <a:ea typeface="Aptos Display"/>
                <a:cs typeface="Aptos Display"/>
              </a:rPr>
              <a:t>154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6AE4B33-AFCC-4CB8-B10F-AED71C17861E}"/>
              </a:ext>
            </a:extLst>
          </p:cNvPr>
          <p:cNvSpPr>
            <a:spLocks noGrp="1"/>
          </p:cNvSpPr>
          <p:nvPr/>
        </p:nvSpPr>
        <p:spPr>
          <a:xfrm>
            <a:off x="1866900" y="11839575"/>
            <a:ext cx="1028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46515D"/>
                </a:solidFill>
                <a:latin typeface="Aptos"/>
                <a:ea typeface="Aptos"/>
                <a:cs typeface="Aptos"/>
              </a:rPr>
              <a:t>automated tests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5FA470-062A-423E-A51B-F466111B1C15}"/>
              </a:ext>
            </a:extLst>
          </p:cNvPr>
          <p:cNvSpPr>
            <a:spLocks noGrp="1"/>
          </p:cNvSpPr>
          <p:nvPr/>
        </p:nvSpPr>
        <p:spPr>
          <a:xfrm>
            <a:off x="514350" y="12211050"/>
            <a:ext cx="1238250" cy="590550"/>
          </a:xfrm>
          <a:prstGeom prst="rect">
            <a:avLst/>
          </a:prstGeom>
          <a:solidFill>
            <a:srgbClr val="F4F8FB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4" name="Graphic 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19125" y="12372975"/>
            <a:ext cx="209550" cy="20955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2D763757-0614-4D04-A12B-8652FF71ACF2}"/>
              </a:ext>
            </a:extLst>
          </p:cNvPr>
          <p:cNvSpPr>
            <a:spLocks noGrp="1"/>
          </p:cNvSpPr>
          <p:nvPr/>
        </p:nvSpPr>
        <p:spPr>
          <a:xfrm>
            <a:off x="895350" y="12296775"/>
            <a:ext cx="742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rPr>
              <a:t>78.75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B259786-4BC3-4459-AF92-254795920B23}"/>
              </a:ext>
            </a:extLst>
          </p:cNvPr>
          <p:cNvSpPr>
            <a:spLocks noGrp="1"/>
          </p:cNvSpPr>
          <p:nvPr/>
        </p:nvSpPr>
        <p:spPr>
          <a:xfrm>
            <a:off x="628650" y="12582525"/>
            <a:ext cx="1028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46515D"/>
                </a:solidFill>
                <a:latin typeface="Aptos"/>
                <a:ea typeface="Aptos"/>
                <a:cs typeface="Aptos"/>
              </a:rPr>
              <a:t>SUS mean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6A241A2-1730-40B9-86A0-055C5EB9A760}"/>
              </a:ext>
            </a:extLst>
          </p:cNvPr>
          <p:cNvSpPr>
            <a:spLocks noGrp="1"/>
          </p:cNvSpPr>
          <p:nvPr/>
        </p:nvSpPr>
        <p:spPr>
          <a:xfrm>
            <a:off x="1752600" y="12211050"/>
            <a:ext cx="1238250" cy="590550"/>
          </a:xfrm>
          <a:prstGeom prst="rect">
            <a:avLst/>
          </a:prstGeom>
          <a:solidFill>
            <a:srgbClr val="F4F8FB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8" name="Graphic 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857375" y="12372975"/>
            <a:ext cx="209550" cy="20955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F3BA7150-2CD5-4833-8BA3-0F632B14C8D3}"/>
              </a:ext>
            </a:extLst>
          </p:cNvPr>
          <p:cNvSpPr>
            <a:spLocks noGrp="1"/>
          </p:cNvSpPr>
          <p:nvPr/>
        </p:nvSpPr>
        <p:spPr>
          <a:xfrm>
            <a:off x="2133600" y="12296775"/>
            <a:ext cx="742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6510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76510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C66ED44-8C26-44C9-AD63-8E372ECC3E53}"/>
              </a:ext>
            </a:extLst>
          </p:cNvPr>
          <p:cNvSpPr>
            <a:spLocks noGrp="1"/>
          </p:cNvSpPr>
          <p:nvPr/>
        </p:nvSpPr>
        <p:spPr>
          <a:xfrm>
            <a:off x="1866900" y="12582525"/>
            <a:ext cx="1028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46515D"/>
                </a:solidFill>
                <a:latin typeface="Aptos"/>
                <a:ea typeface="Aptos"/>
                <a:cs typeface="Aptos"/>
              </a:rPr>
              <a:t>critical crashes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57163D1-7575-4007-805F-8E53802D01CF}"/>
              </a:ext>
            </a:extLst>
          </p:cNvPr>
          <p:cNvSpPr>
            <a:spLocks noGrp="1"/>
          </p:cNvSpPr>
          <p:nvPr/>
        </p:nvSpPr>
        <p:spPr>
          <a:xfrm>
            <a:off x="552450" y="13049250"/>
            <a:ext cx="2247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Performance summary from final report: provider search 1.2 sec, review submission &lt;1 sec, screen transitions 0.8 sec, and 92% successful functional scenarios.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6A31398-5865-4D75-9E6A-7603BB4D0190}"/>
              </a:ext>
            </a:extLst>
          </p:cNvPr>
          <p:cNvSpPr>
            <a:spLocks noGrp="1"/>
          </p:cNvSpPr>
          <p:nvPr/>
        </p:nvSpPr>
        <p:spPr>
          <a:xfrm>
            <a:off x="3590925" y="2657475"/>
            <a:ext cx="3276600" cy="62484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2CB5FD-4FF4-4C2B-B44A-79793422F8F7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3276600" cy="624840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176EAD3-1645-4189-9768-7BC92CDBD810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327660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FD2AFC9-75E7-4C81-81EB-49C8ACD5D1F5}"/>
              </a:ext>
            </a:extLst>
          </p:cNvPr>
          <p:cNvSpPr>
            <a:spLocks noGrp="1"/>
          </p:cNvSpPr>
          <p:nvPr/>
        </p:nvSpPr>
        <p:spPr>
          <a:xfrm>
            <a:off x="3657600" y="26670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and Architecture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8A9CDFA-57A7-43A0-B757-8975DA31C5F8}"/>
              </a:ext>
            </a:extLst>
          </p:cNvPr>
          <p:cNvSpPr>
            <a:spLocks noGrp="1"/>
          </p:cNvSpPr>
          <p:nvPr/>
        </p:nvSpPr>
        <p:spPr>
          <a:xfrm>
            <a:off x="3733800" y="32194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Layered mobile architecture with server-side score integrity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F93A6DD-3080-494A-96FB-A0EACC5E054E}"/>
              </a:ext>
            </a:extLst>
          </p:cNvPr>
          <p:cNvSpPr>
            <a:spLocks noGrp="1"/>
          </p:cNvSpPr>
          <p:nvPr/>
        </p:nvSpPr>
        <p:spPr>
          <a:xfrm>
            <a:off x="3752850" y="3676650"/>
            <a:ext cx="2819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D43215E-3F76-486B-9BA8-0676EE83A457}"/>
              </a:ext>
            </a:extLst>
          </p:cNvPr>
          <p:cNvSpPr>
            <a:spLocks noGrp="1"/>
          </p:cNvSpPr>
          <p:nvPr/>
        </p:nvSpPr>
        <p:spPr>
          <a:xfrm>
            <a:off x="3752850" y="3676650"/>
            <a:ext cx="47625" cy="68580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89" name="Graphic 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3876675" y="3867150"/>
            <a:ext cx="219075" cy="219075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DCE68DCA-43E7-428E-AB3F-DEB28084B439}"/>
              </a:ext>
            </a:extLst>
          </p:cNvPr>
          <p:cNvSpPr>
            <a:spLocks noGrp="1"/>
          </p:cNvSpPr>
          <p:nvPr/>
        </p:nvSpPr>
        <p:spPr>
          <a:xfrm>
            <a:off x="4191000" y="3800475"/>
            <a:ext cx="226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Presentation Layer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8435C6D-B60E-4CE9-9EA5-BDB761C48A12}"/>
              </a:ext>
            </a:extLst>
          </p:cNvPr>
          <p:cNvSpPr>
            <a:spLocks noGrp="1"/>
          </p:cNvSpPr>
          <p:nvPr/>
        </p:nvSpPr>
        <p:spPr>
          <a:xfrm>
            <a:off x="4191000" y="401002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Flutter UI: auth, discovery, provider profile, questionnaire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7251ACC-C84E-4315-BEBC-03CF609DEFF6}"/>
              </a:ext>
            </a:extLst>
          </p:cNvPr>
          <p:cNvSpPr>
            <a:spLocks noGrp="1"/>
          </p:cNvSpPr>
          <p:nvPr/>
        </p:nvSpPr>
        <p:spPr>
          <a:xfrm>
            <a:off x="5143500" y="4362450"/>
            <a:ext cx="38100" cy="1905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58757DB-6FB3-4209-828D-783F0C0EDF20}"/>
              </a:ext>
            </a:extLst>
          </p:cNvPr>
          <p:cNvSpPr>
            <a:spLocks noGrp="1"/>
          </p:cNvSpPr>
          <p:nvPr/>
        </p:nvSpPr>
        <p:spPr>
          <a:xfrm>
            <a:off x="3752850" y="4591050"/>
            <a:ext cx="2819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F3EC499-5DC1-44C0-BC63-7CF316409E67}"/>
              </a:ext>
            </a:extLst>
          </p:cNvPr>
          <p:cNvSpPr>
            <a:spLocks noGrp="1"/>
          </p:cNvSpPr>
          <p:nvPr/>
        </p:nvSpPr>
        <p:spPr>
          <a:xfrm>
            <a:off x="3752850" y="4591050"/>
            <a:ext cx="47625" cy="68580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95" name="Graphic 9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876675" y="4781550"/>
            <a:ext cx="219075" cy="219075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27D5EF8A-02A3-4687-BDF5-91AA49CC424A}"/>
              </a:ext>
            </a:extLst>
          </p:cNvPr>
          <p:cNvSpPr>
            <a:spLocks noGrp="1"/>
          </p:cNvSpPr>
          <p:nvPr/>
        </p:nvSpPr>
        <p:spPr>
          <a:xfrm>
            <a:off x="4191000" y="4714875"/>
            <a:ext cx="226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Application Service Layer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CEB5E67-3757-4BC8-86E2-DDD15EEF88A2}"/>
              </a:ext>
            </a:extLst>
          </p:cNvPr>
          <p:cNvSpPr>
            <a:spLocks noGrp="1"/>
          </p:cNvSpPr>
          <p:nvPr/>
        </p:nvSpPr>
        <p:spPr>
          <a:xfrm>
            <a:off x="4191000" y="492442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Auth, provider search, review management, questionnaire processing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7D33028-5587-4CAE-9DF6-46D553E1CE67}"/>
              </a:ext>
            </a:extLst>
          </p:cNvPr>
          <p:cNvSpPr>
            <a:spLocks noGrp="1"/>
          </p:cNvSpPr>
          <p:nvPr/>
        </p:nvSpPr>
        <p:spPr>
          <a:xfrm>
            <a:off x="5143500" y="5276850"/>
            <a:ext cx="38100" cy="1905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1C53D83-E9FB-41BD-8972-D76A57C3564A}"/>
              </a:ext>
            </a:extLst>
          </p:cNvPr>
          <p:cNvSpPr>
            <a:spLocks noGrp="1"/>
          </p:cNvSpPr>
          <p:nvPr/>
        </p:nvSpPr>
        <p:spPr>
          <a:xfrm>
            <a:off x="3752850" y="5505450"/>
            <a:ext cx="2819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F82488-AE1C-4AA0-8FC0-06F1C0209432}"/>
              </a:ext>
            </a:extLst>
          </p:cNvPr>
          <p:cNvSpPr>
            <a:spLocks noGrp="1"/>
          </p:cNvSpPr>
          <p:nvPr/>
        </p:nvSpPr>
        <p:spPr>
          <a:xfrm>
            <a:off x="3752850" y="5505450"/>
            <a:ext cx="47625" cy="685800"/>
          </a:xfrm>
          <a:prstGeom prst="rect">
            <a:avLst/>
          </a:prstGeom>
          <a:solidFill>
            <a:srgbClr val="2A5C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01" name="Graphic 1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3876675" y="5695950"/>
            <a:ext cx="219075" cy="219075"/>
          </a:xfrm>
          <a:prstGeom prst="rect">
            <a:avLst/>
          </a:prstGeom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69F031B0-F822-4DF6-AB9F-92FD0490B8CC}"/>
              </a:ext>
            </a:extLst>
          </p:cNvPr>
          <p:cNvSpPr>
            <a:spLocks noGrp="1"/>
          </p:cNvSpPr>
          <p:nvPr/>
        </p:nvSpPr>
        <p:spPr>
          <a:xfrm>
            <a:off x="4191000" y="5629275"/>
            <a:ext cx="226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Business Logic Layer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4640A8B-5839-4673-AE7C-C8E5D60EC70A}"/>
              </a:ext>
            </a:extLst>
          </p:cNvPr>
          <p:cNvSpPr>
            <a:spLocks noGrp="1"/>
          </p:cNvSpPr>
          <p:nvPr/>
        </p:nvSpPr>
        <p:spPr>
          <a:xfrm>
            <a:off x="4191000" y="583882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AHP-inspired ranking, validation engine, analytics dashboard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8A66E89-9496-463B-B907-19676FD16F5E}"/>
              </a:ext>
            </a:extLst>
          </p:cNvPr>
          <p:cNvSpPr>
            <a:spLocks noGrp="1"/>
          </p:cNvSpPr>
          <p:nvPr/>
        </p:nvSpPr>
        <p:spPr>
          <a:xfrm>
            <a:off x="5143500" y="6191250"/>
            <a:ext cx="38100" cy="1905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249E7E2-7369-4C96-B9F6-7902AE6CA87B}"/>
              </a:ext>
            </a:extLst>
          </p:cNvPr>
          <p:cNvSpPr>
            <a:spLocks noGrp="1"/>
          </p:cNvSpPr>
          <p:nvPr/>
        </p:nvSpPr>
        <p:spPr>
          <a:xfrm>
            <a:off x="3752850" y="6419850"/>
            <a:ext cx="2819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5A4CC0F-4168-46DC-899C-BA0B39F60ABA}"/>
              </a:ext>
            </a:extLst>
          </p:cNvPr>
          <p:cNvSpPr>
            <a:spLocks noGrp="1"/>
          </p:cNvSpPr>
          <p:nvPr/>
        </p:nvSpPr>
        <p:spPr>
          <a:xfrm>
            <a:off x="3752850" y="6419850"/>
            <a:ext cx="47625" cy="685800"/>
          </a:xfrm>
          <a:prstGeom prst="rect">
            <a:avLst/>
          </a:prstGeom>
          <a:solidFill>
            <a:srgbClr val="765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07" name="Graphic 1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3876675" y="6610350"/>
            <a:ext cx="219075" cy="219075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E4FFD019-0B90-4647-82B1-E530A835760D}"/>
              </a:ext>
            </a:extLst>
          </p:cNvPr>
          <p:cNvSpPr>
            <a:spLocks noGrp="1"/>
          </p:cNvSpPr>
          <p:nvPr/>
        </p:nvSpPr>
        <p:spPr>
          <a:xfrm>
            <a:off x="4191000" y="6543675"/>
            <a:ext cx="226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Backend Cloud Infrastructure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D0C3B96-7B35-4CAF-8777-C8B6251A4416}"/>
              </a:ext>
            </a:extLst>
          </p:cNvPr>
          <p:cNvSpPr>
            <a:spLocks noGrp="1"/>
          </p:cNvSpPr>
          <p:nvPr/>
        </p:nvSpPr>
        <p:spPr>
          <a:xfrm>
            <a:off x="4191000" y="6753225"/>
            <a:ext cx="2266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Firebase Auth, Firestore, Storage, Cloud Functions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37C8333-55BE-4BA1-8973-44EFFFD5C6D5}"/>
              </a:ext>
            </a:extLst>
          </p:cNvPr>
          <p:cNvSpPr>
            <a:spLocks noGrp="1"/>
          </p:cNvSpPr>
          <p:nvPr/>
        </p:nvSpPr>
        <p:spPr>
          <a:xfrm>
            <a:off x="3752850" y="7372350"/>
            <a:ext cx="2819400" cy="723900"/>
          </a:xfrm>
          <a:prstGeom prst="rect">
            <a:avLst/>
          </a:prstGeom>
          <a:solidFill>
            <a:srgbClr val="F7FAFC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6EC74F3-7B26-4928-B2F8-07750EEB268F}"/>
              </a:ext>
            </a:extLst>
          </p:cNvPr>
          <p:cNvSpPr>
            <a:spLocks noGrp="1"/>
          </p:cNvSpPr>
          <p:nvPr/>
        </p:nvSpPr>
        <p:spPr>
          <a:xfrm>
            <a:off x="3905250" y="7524750"/>
            <a:ext cx="1238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A9043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90438"/>
                </a:solidFill>
                <a:latin typeface="Aptos"/>
                <a:ea typeface="Aptos"/>
                <a:cs typeface="Aptos"/>
              </a:rPr>
              <a:t>Architecture views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C247098-E561-4DF1-B91E-C5BECCF9DDE1}"/>
              </a:ext>
            </a:extLst>
          </p:cNvPr>
          <p:cNvSpPr>
            <a:spLocks noGrp="1"/>
          </p:cNvSpPr>
          <p:nvPr/>
        </p:nvSpPr>
        <p:spPr>
          <a:xfrm>
            <a:off x="3905250" y="7734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Logical: Patient, Provider, Admin actors</a:t>
            </a:r>
          </a:p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Process: review write -&gt; ranking trigger</a:t>
            </a:r>
          </a:p>
          <a:p>
            <a:pPr algn="l">
              <a:defRPr sz="630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Deployment: Flutter client + Firebase cloud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FB58254-AFDF-4B26-8537-CE8BAED544D0}"/>
              </a:ext>
            </a:extLst>
          </p:cNvPr>
          <p:cNvSpPr>
            <a:spLocks noGrp="1"/>
          </p:cNvSpPr>
          <p:nvPr/>
        </p:nvSpPr>
        <p:spPr>
          <a:xfrm>
            <a:off x="3752850" y="8134349"/>
            <a:ext cx="2819400" cy="619125"/>
          </a:xfrm>
          <a:prstGeom prst="rect">
            <a:avLst/>
          </a:prstGeom>
          <a:solidFill>
            <a:srgbClr val="EFFB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95F84F8-EA7E-459F-AFCB-55B30C20BB23}"/>
              </a:ext>
            </a:extLst>
          </p:cNvPr>
          <p:cNvSpPr>
            <a:spLocks noGrp="1"/>
          </p:cNvSpPr>
          <p:nvPr/>
        </p:nvSpPr>
        <p:spPr>
          <a:xfrm>
            <a:off x="3905250" y="8267700"/>
            <a:ext cx="1504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Privacy and trust constraints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3DD0461-EACA-42B1-9600-32EB551169D9}"/>
              </a:ext>
            </a:extLst>
          </p:cNvPr>
          <p:cNvSpPr>
            <a:spLocks noGrp="1"/>
          </p:cNvSpPr>
          <p:nvPr/>
        </p:nvSpPr>
        <p:spPr>
          <a:xfrm>
            <a:off x="3905250" y="84582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7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KVKK-aware data minimization, authenticated access, anonymous reviews, no clinical records, and backend-protected ranking updates.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C395451-9E01-4248-BCA5-AE46C75413B9}"/>
              </a:ext>
            </a:extLst>
          </p:cNvPr>
          <p:cNvSpPr>
            <a:spLocks noGrp="1"/>
          </p:cNvSpPr>
          <p:nvPr/>
        </p:nvSpPr>
        <p:spPr>
          <a:xfrm>
            <a:off x="3590925" y="9229725"/>
            <a:ext cx="3276600" cy="771525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1B671F7-732E-468A-B514-8262F7E5F4BF}"/>
              </a:ext>
            </a:extLst>
          </p:cNvPr>
          <p:cNvSpPr>
            <a:spLocks noGrp="1"/>
          </p:cNvSpPr>
          <p:nvPr/>
        </p:nvSpPr>
        <p:spPr>
          <a:xfrm>
            <a:off x="3524250" y="9144000"/>
            <a:ext cx="3276600" cy="771525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9E22AC8-E399-44C2-9CCF-A1D419828AED}"/>
              </a:ext>
            </a:extLst>
          </p:cNvPr>
          <p:cNvSpPr>
            <a:spLocks noGrp="1"/>
          </p:cNvSpPr>
          <p:nvPr/>
        </p:nvSpPr>
        <p:spPr>
          <a:xfrm>
            <a:off x="3524250" y="9144000"/>
            <a:ext cx="327660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7B081DB-6AAB-4A5C-A82A-11DEAA90E654}"/>
              </a:ext>
            </a:extLst>
          </p:cNvPr>
          <p:cNvSpPr>
            <a:spLocks noGrp="1"/>
          </p:cNvSpPr>
          <p:nvPr/>
        </p:nvSpPr>
        <p:spPr>
          <a:xfrm>
            <a:off x="3657600" y="92392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Methods/Tools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5AAF22F-B23B-4465-852A-1425FD85FCD5}"/>
              </a:ext>
            </a:extLst>
          </p:cNvPr>
          <p:cNvSpPr>
            <a:spLocks noGrp="1"/>
          </p:cNvSpPr>
          <p:nvPr/>
        </p:nvSpPr>
        <p:spPr>
          <a:xfrm>
            <a:off x="3752850" y="97726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Methodology + toolchain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1FF9128-2C9D-47BE-8B52-DCFE78D1B0E8}"/>
              </a:ext>
            </a:extLst>
          </p:cNvPr>
          <p:cNvSpPr>
            <a:spLocks noGrp="1"/>
          </p:cNvSpPr>
          <p:nvPr/>
        </p:nvSpPr>
        <p:spPr>
          <a:xfrm>
            <a:off x="3790950" y="1008697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5430C2F-A493-4CF0-9EDE-0706F18C5250}"/>
              </a:ext>
            </a:extLst>
          </p:cNvPr>
          <p:cNvSpPr>
            <a:spLocks noGrp="1"/>
          </p:cNvSpPr>
          <p:nvPr/>
        </p:nvSpPr>
        <p:spPr>
          <a:xfrm>
            <a:off x="3924300" y="100393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Agile Scrum: 16 weeks / 9 sprints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60B0C54-C4D7-42BB-A08A-B8694C537BE1}"/>
              </a:ext>
            </a:extLst>
          </p:cNvPr>
          <p:cNvSpPr>
            <a:spLocks noGrp="1"/>
          </p:cNvSpPr>
          <p:nvPr/>
        </p:nvSpPr>
        <p:spPr>
          <a:xfrm>
            <a:off x="3790950" y="10315575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D1A319D-5325-4B45-9E3E-E8A7CBF72354}"/>
              </a:ext>
            </a:extLst>
          </p:cNvPr>
          <p:cNvSpPr>
            <a:spLocks noGrp="1"/>
          </p:cNvSpPr>
          <p:nvPr/>
        </p:nvSpPr>
        <p:spPr>
          <a:xfrm>
            <a:off x="3924300" y="102679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Flutter 3.19+ / Dart 3.3+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596E4B9-BD89-4B04-ACD4-A21A6D9CDCDE}"/>
              </a:ext>
            </a:extLst>
          </p:cNvPr>
          <p:cNvSpPr>
            <a:spLocks noGrp="1"/>
          </p:cNvSpPr>
          <p:nvPr/>
        </p:nvSpPr>
        <p:spPr>
          <a:xfrm>
            <a:off x="3790950" y="1054417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4BFD0BA-286E-499E-A111-E1819DD09475}"/>
              </a:ext>
            </a:extLst>
          </p:cNvPr>
          <p:cNvSpPr>
            <a:spLocks noGrp="1"/>
          </p:cNvSpPr>
          <p:nvPr/>
        </p:nvSpPr>
        <p:spPr>
          <a:xfrm>
            <a:off x="3924300" y="104965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Provider state management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8D4524F-3B37-4066-B1FE-7F9A8D2CB654}"/>
              </a:ext>
            </a:extLst>
          </p:cNvPr>
          <p:cNvSpPr>
            <a:spLocks noGrp="1"/>
          </p:cNvSpPr>
          <p:nvPr/>
        </p:nvSpPr>
        <p:spPr>
          <a:xfrm>
            <a:off x="3790950" y="10772775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F1A35A9-E6DE-4FCD-8A8E-BA3A48B7E38A}"/>
              </a:ext>
            </a:extLst>
          </p:cNvPr>
          <p:cNvSpPr>
            <a:spLocks noGrp="1"/>
          </p:cNvSpPr>
          <p:nvPr/>
        </p:nvSpPr>
        <p:spPr>
          <a:xfrm>
            <a:off x="3924300" y="107251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Firebase Auth, Firestore, Storage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B57C41E-F372-4C34-97AB-AAA05C23DC1A}"/>
              </a:ext>
            </a:extLst>
          </p:cNvPr>
          <p:cNvSpPr>
            <a:spLocks noGrp="1"/>
          </p:cNvSpPr>
          <p:nvPr/>
        </p:nvSpPr>
        <p:spPr>
          <a:xfrm>
            <a:off x="3790950" y="1100137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910DD5B-F0E5-4B7D-A3DA-B087D9B3B473}"/>
              </a:ext>
            </a:extLst>
          </p:cNvPr>
          <p:cNvSpPr>
            <a:spLocks noGrp="1"/>
          </p:cNvSpPr>
          <p:nvPr/>
        </p:nvSpPr>
        <p:spPr>
          <a:xfrm>
            <a:off x="3924300" y="109537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Cloud Functions v2 for ranking updates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C17CE42-F749-4E9E-BDA0-AC4429CC434D}"/>
              </a:ext>
            </a:extLst>
          </p:cNvPr>
          <p:cNvSpPr>
            <a:spLocks noGrp="1"/>
          </p:cNvSpPr>
          <p:nvPr/>
        </p:nvSpPr>
        <p:spPr>
          <a:xfrm>
            <a:off x="3790950" y="11229975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763ACF0-0507-4F03-BB61-7F764B9C79AE}"/>
              </a:ext>
            </a:extLst>
          </p:cNvPr>
          <p:cNvSpPr>
            <a:spLocks noGrp="1"/>
          </p:cNvSpPr>
          <p:nvPr/>
        </p:nvSpPr>
        <p:spPr>
          <a:xfrm>
            <a:off x="3924300" y="111823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20" b="0" dirty="0">
                <a:solidFill>
                  <a:srgbClr val="12181F"/>
                </a:solidFill>
                <a:latin typeface="Aptos"/>
                <a:ea typeface="Aptos"/>
                <a:cs typeface="Aptos"/>
              </a:rPr>
              <a:t>Git/GitHub, VS Code, Cursor</a:t>
            </a:r>
            <a:r>
              <a:rPr lang="en-US" sz="720" b="0" dirty="0">
                <a:solidFill>
                  <a:srgbClr val="12181F"/>
                </a:solidFill>
                <a:latin typeface="Aptos"/>
                <a:ea typeface="Aptos"/>
                <a:cs typeface="Aptos"/>
              </a:rPr>
              <a:t>, antigravity</a:t>
            </a:r>
            <a:endParaRPr sz="720" b="0" dirty="0">
              <a:solidFill>
                <a:srgbClr val="1218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E1D25AB-E2E2-4C72-BE95-5788222E373F}"/>
              </a:ext>
            </a:extLst>
          </p:cNvPr>
          <p:cNvSpPr>
            <a:spLocks noGrp="1"/>
          </p:cNvSpPr>
          <p:nvPr/>
        </p:nvSpPr>
        <p:spPr>
          <a:xfrm>
            <a:off x="3790950" y="1145857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CCCDA20-D0F7-4F9B-8BD1-51C4EA977848}"/>
              </a:ext>
            </a:extLst>
          </p:cNvPr>
          <p:cNvSpPr>
            <a:spLocks noGrp="1"/>
          </p:cNvSpPr>
          <p:nvPr/>
        </p:nvSpPr>
        <p:spPr>
          <a:xfrm>
            <a:off x="3924300" y="114109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20" b="0" dirty="0">
                <a:solidFill>
                  <a:srgbClr val="12181F"/>
                </a:solidFill>
                <a:latin typeface="Aptos"/>
                <a:ea typeface="Aptos"/>
                <a:cs typeface="Aptos"/>
              </a:rPr>
              <a:t>Firebase Spark Tier cost constraint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680A188-DF7C-4362-9C0A-085D14D076DE}"/>
              </a:ext>
            </a:extLst>
          </p:cNvPr>
          <p:cNvSpPr>
            <a:spLocks noGrp="1"/>
          </p:cNvSpPr>
          <p:nvPr/>
        </p:nvSpPr>
        <p:spPr>
          <a:xfrm>
            <a:off x="3752850" y="11658600"/>
            <a:ext cx="2819400" cy="1885950"/>
          </a:xfrm>
          <a:prstGeom prst="rect">
            <a:avLst/>
          </a:prstGeom>
          <a:solidFill>
            <a:srgbClr val="F4F8FB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6984314-300C-4725-8262-CE597AC11A93}"/>
              </a:ext>
            </a:extLst>
          </p:cNvPr>
          <p:cNvSpPr>
            <a:spLocks noGrp="1"/>
          </p:cNvSpPr>
          <p:nvPr/>
        </p:nvSpPr>
        <p:spPr>
          <a:xfrm>
            <a:off x="3943350" y="1183005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904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0438"/>
                </a:solidFill>
                <a:latin typeface="Aptos"/>
                <a:ea typeface="Aptos"/>
                <a:cs typeface="Aptos"/>
              </a:rPr>
              <a:t>AHP-inspired ranking method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42FF9F8-9CCB-4828-8215-EE4991A66F1D}"/>
              </a:ext>
            </a:extLst>
          </p:cNvPr>
          <p:cNvSpPr>
            <a:spLocks noGrp="1"/>
          </p:cNvSpPr>
          <p:nvPr/>
        </p:nvSpPr>
        <p:spPr>
          <a:xfrm>
            <a:off x="3943350" y="1207770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Weighted score = sum(criteria weight x patient score)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2B7DA3C-B7C6-4CF6-889B-022C00B5D1D4}"/>
              </a:ext>
            </a:extLst>
          </p:cNvPr>
          <p:cNvSpPr>
            <a:spLocks noGrp="1"/>
          </p:cNvSpPr>
          <p:nvPr/>
        </p:nvSpPr>
        <p:spPr>
          <a:xfrm>
            <a:off x="3943350" y="12420600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Communication quality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DE14959-26A0-455D-AEB7-2CFD57BD7A5B}"/>
              </a:ext>
            </a:extLst>
          </p:cNvPr>
          <p:cNvSpPr>
            <a:spLocks noGrp="1"/>
          </p:cNvSpPr>
          <p:nvPr/>
        </p:nvSpPr>
        <p:spPr>
          <a:xfrm>
            <a:off x="5181600" y="12458700"/>
            <a:ext cx="876300" cy="76200"/>
          </a:xfrm>
          <a:prstGeom prst="rect">
            <a:avLst/>
          </a:prstGeom>
          <a:solidFill>
            <a:srgbClr val="E1E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6F84D37-3985-4464-A4DD-36A0FB8B6571}"/>
              </a:ext>
            </a:extLst>
          </p:cNvPr>
          <p:cNvSpPr>
            <a:spLocks noGrp="1"/>
          </p:cNvSpPr>
          <p:nvPr/>
        </p:nvSpPr>
        <p:spPr>
          <a:xfrm>
            <a:off x="5181600" y="12458700"/>
            <a:ext cx="262890" cy="7620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84FCDC6-0D6D-49D4-951D-8408C605F459}"/>
              </a:ext>
            </a:extLst>
          </p:cNvPr>
          <p:cNvSpPr>
            <a:spLocks noGrp="1"/>
          </p:cNvSpPr>
          <p:nvPr/>
        </p:nvSpPr>
        <p:spPr>
          <a:xfrm>
            <a:off x="6115050" y="12411075"/>
            <a:ext cx="285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76CB19A-913E-42B2-B70C-A16568C70621}"/>
              </a:ext>
            </a:extLst>
          </p:cNvPr>
          <p:cNvSpPr>
            <a:spLocks noGrp="1"/>
          </p:cNvSpPr>
          <p:nvPr/>
        </p:nvSpPr>
        <p:spPr>
          <a:xfrm>
            <a:off x="3943350" y="12649200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Cleanliness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32B00F8-8811-4B21-AF8A-5DD2DEB47462}"/>
              </a:ext>
            </a:extLst>
          </p:cNvPr>
          <p:cNvSpPr>
            <a:spLocks noGrp="1"/>
          </p:cNvSpPr>
          <p:nvPr/>
        </p:nvSpPr>
        <p:spPr>
          <a:xfrm>
            <a:off x="5181600" y="12687300"/>
            <a:ext cx="876300" cy="76200"/>
          </a:xfrm>
          <a:prstGeom prst="rect">
            <a:avLst/>
          </a:prstGeom>
          <a:solidFill>
            <a:srgbClr val="E1E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EACACA0-CE41-4819-A4B9-0D90FCAC3123}"/>
              </a:ext>
            </a:extLst>
          </p:cNvPr>
          <p:cNvSpPr>
            <a:spLocks noGrp="1"/>
          </p:cNvSpPr>
          <p:nvPr/>
        </p:nvSpPr>
        <p:spPr>
          <a:xfrm>
            <a:off x="5181600" y="12687300"/>
            <a:ext cx="175260" cy="7620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9444FCA-CACF-4CA6-9ECD-58362F9BD8DA}"/>
              </a:ext>
            </a:extLst>
          </p:cNvPr>
          <p:cNvSpPr>
            <a:spLocks noGrp="1"/>
          </p:cNvSpPr>
          <p:nvPr/>
        </p:nvSpPr>
        <p:spPr>
          <a:xfrm>
            <a:off x="6115050" y="12639675"/>
            <a:ext cx="285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C48E3DE-FC75-466B-BB9B-C1D798337F31}"/>
              </a:ext>
            </a:extLst>
          </p:cNvPr>
          <p:cNvSpPr>
            <a:spLocks noGrp="1"/>
          </p:cNvSpPr>
          <p:nvPr/>
        </p:nvSpPr>
        <p:spPr>
          <a:xfrm>
            <a:off x="3943350" y="12877800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Professionalism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0C6798A-36FD-4508-B85E-17DC04E6A19D}"/>
              </a:ext>
            </a:extLst>
          </p:cNvPr>
          <p:cNvSpPr>
            <a:spLocks noGrp="1"/>
          </p:cNvSpPr>
          <p:nvPr/>
        </p:nvSpPr>
        <p:spPr>
          <a:xfrm>
            <a:off x="5181600" y="12915900"/>
            <a:ext cx="876300" cy="76200"/>
          </a:xfrm>
          <a:prstGeom prst="rect">
            <a:avLst/>
          </a:prstGeom>
          <a:solidFill>
            <a:srgbClr val="E1E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3E61AA6-A793-47AD-8D5C-9A4DB0871297}"/>
              </a:ext>
            </a:extLst>
          </p:cNvPr>
          <p:cNvSpPr>
            <a:spLocks noGrp="1"/>
          </p:cNvSpPr>
          <p:nvPr/>
        </p:nvSpPr>
        <p:spPr>
          <a:xfrm>
            <a:off x="5181600" y="12915900"/>
            <a:ext cx="175260" cy="76200"/>
          </a:xfrm>
          <a:prstGeom prst="rect">
            <a:avLst/>
          </a:prstGeom>
          <a:solidFill>
            <a:srgbClr val="2A5C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4AFF0AC-0910-46A0-A5B8-3B8A5B6C6932}"/>
              </a:ext>
            </a:extLst>
          </p:cNvPr>
          <p:cNvSpPr>
            <a:spLocks noGrp="1"/>
          </p:cNvSpPr>
          <p:nvPr/>
        </p:nvSpPr>
        <p:spPr>
          <a:xfrm>
            <a:off x="6115050" y="12868275"/>
            <a:ext cx="285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1">
                <a:solidFill>
                  <a:srgbClr val="2A5C8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A5C82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EE4F255-4E07-4AB9-8803-4A1F27488ECF}"/>
              </a:ext>
            </a:extLst>
          </p:cNvPr>
          <p:cNvSpPr>
            <a:spLocks noGrp="1"/>
          </p:cNvSpPr>
          <p:nvPr/>
        </p:nvSpPr>
        <p:spPr>
          <a:xfrm>
            <a:off x="3943350" y="13106400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Waiting time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D5F8778-5624-4241-90C3-420D4A96D5A8}"/>
              </a:ext>
            </a:extLst>
          </p:cNvPr>
          <p:cNvSpPr>
            <a:spLocks noGrp="1"/>
          </p:cNvSpPr>
          <p:nvPr/>
        </p:nvSpPr>
        <p:spPr>
          <a:xfrm>
            <a:off x="5181600" y="13144500"/>
            <a:ext cx="876300" cy="76200"/>
          </a:xfrm>
          <a:prstGeom prst="rect">
            <a:avLst/>
          </a:prstGeom>
          <a:solidFill>
            <a:srgbClr val="E1E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250EE25-21B0-4D56-AA44-1FB280B0D363}"/>
              </a:ext>
            </a:extLst>
          </p:cNvPr>
          <p:cNvSpPr>
            <a:spLocks noGrp="1"/>
          </p:cNvSpPr>
          <p:nvPr/>
        </p:nvSpPr>
        <p:spPr>
          <a:xfrm>
            <a:off x="5181600" y="13144500"/>
            <a:ext cx="131445" cy="76200"/>
          </a:xfrm>
          <a:prstGeom prst="rect">
            <a:avLst/>
          </a:prstGeom>
          <a:solidFill>
            <a:srgbClr val="765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EBA825A-DD35-4077-9588-7885C8240E8C}"/>
              </a:ext>
            </a:extLst>
          </p:cNvPr>
          <p:cNvSpPr>
            <a:spLocks noGrp="1"/>
          </p:cNvSpPr>
          <p:nvPr/>
        </p:nvSpPr>
        <p:spPr>
          <a:xfrm>
            <a:off x="6115050" y="13096875"/>
            <a:ext cx="285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1">
                <a:solidFill>
                  <a:srgbClr val="76510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6510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0986FE8-50FB-43CF-8248-9419D85C561B}"/>
              </a:ext>
            </a:extLst>
          </p:cNvPr>
          <p:cNvSpPr>
            <a:spLocks noGrp="1"/>
          </p:cNvSpPr>
          <p:nvPr/>
        </p:nvSpPr>
        <p:spPr>
          <a:xfrm>
            <a:off x="3943350" y="13335000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2181F"/>
                </a:solidFill>
                <a:latin typeface="Aptos"/>
                <a:ea typeface="Aptos"/>
                <a:cs typeface="Aptos"/>
              </a:rPr>
              <a:t>Empathy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6A93FBF-5299-44BC-9548-6C079EBBC3E1}"/>
              </a:ext>
            </a:extLst>
          </p:cNvPr>
          <p:cNvSpPr>
            <a:spLocks noGrp="1"/>
          </p:cNvSpPr>
          <p:nvPr/>
        </p:nvSpPr>
        <p:spPr>
          <a:xfrm>
            <a:off x="5181600" y="13373100"/>
            <a:ext cx="876300" cy="76200"/>
          </a:xfrm>
          <a:prstGeom prst="rect">
            <a:avLst/>
          </a:prstGeom>
          <a:solidFill>
            <a:srgbClr val="E1E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55EFEB7-A91A-449B-9D81-2BDD8B4DE407}"/>
              </a:ext>
            </a:extLst>
          </p:cNvPr>
          <p:cNvSpPr>
            <a:spLocks noGrp="1"/>
          </p:cNvSpPr>
          <p:nvPr/>
        </p:nvSpPr>
        <p:spPr>
          <a:xfrm>
            <a:off x="5181600" y="13373100"/>
            <a:ext cx="131445" cy="762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E49B12B-53F1-444C-9F81-DD37562F0CD2}"/>
              </a:ext>
            </a:extLst>
          </p:cNvPr>
          <p:cNvSpPr>
            <a:spLocks noGrp="1"/>
          </p:cNvSpPr>
          <p:nvPr/>
        </p:nvSpPr>
        <p:spPr>
          <a:xfrm>
            <a:off x="6115050" y="13325475"/>
            <a:ext cx="285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1">
                <a:solidFill>
                  <a:srgbClr val="A9043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90438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DB313D3-2880-4CA5-9E28-258476521502}"/>
              </a:ext>
            </a:extLst>
          </p:cNvPr>
          <p:cNvSpPr>
            <a:spLocks noGrp="1"/>
          </p:cNvSpPr>
          <p:nvPr/>
        </p:nvSpPr>
        <p:spPr>
          <a:xfrm>
            <a:off x="3752850" y="13639800"/>
            <a:ext cx="28194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0A4C05B-551D-4C4D-BD0F-B57D427F406E}"/>
              </a:ext>
            </a:extLst>
          </p:cNvPr>
          <p:cNvSpPr>
            <a:spLocks noGrp="1"/>
          </p:cNvSpPr>
          <p:nvPr/>
        </p:nvSpPr>
        <p:spPr>
          <a:xfrm>
            <a:off x="3943350" y="138112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Verification method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A3D3A42-7D1F-47CD-BB95-8D5C845A994A}"/>
              </a:ext>
            </a:extLst>
          </p:cNvPr>
          <p:cNvSpPr>
            <a:spLocks noGrp="1"/>
          </p:cNvSpPr>
          <p:nvPr/>
        </p:nvSpPr>
        <p:spPr>
          <a:xfrm>
            <a:off x="3981450" y="1416367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05FC1B6-5D9F-42FD-8610-F198410FE6B1}"/>
              </a:ext>
            </a:extLst>
          </p:cNvPr>
          <p:cNvSpPr>
            <a:spLocks noGrp="1"/>
          </p:cNvSpPr>
          <p:nvPr/>
        </p:nvSpPr>
        <p:spPr>
          <a:xfrm>
            <a:off x="4114800" y="1411605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154 automated tests across models, widgets, routes, and utility calculations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6073272-F6D2-48A3-82D4-4E699F63051B}"/>
              </a:ext>
            </a:extLst>
          </p:cNvPr>
          <p:cNvSpPr>
            <a:spLocks noGrp="1"/>
          </p:cNvSpPr>
          <p:nvPr/>
        </p:nvSpPr>
        <p:spPr>
          <a:xfrm>
            <a:off x="3981450" y="14563725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205796E-17FF-49C2-AD1E-2F46A3FD5E37}"/>
              </a:ext>
            </a:extLst>
          </p:cNvPr>
          <p:cNvSpPr>
            <a:spLocks noGrp="1"/>
          </p:cNvSpPr>
          <p:nvPr/>
        </p:nvSpPr>
        <p:spPr>
          <a:xfrm>
            <a:off x="4114800" y="1451610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Integration checks for authentication, cache failover, stream updates, and review writes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46BAA42-A563-437F-805B-C5932CA4866A}"/>
              </a:ext>
            </a:extLst>
          </p:cNvPr>
          <p:cNvSpPr>
            <a:spLocks noGrp="1"/>
          </p:cNvSpPr>
          <p:nvPr/>
        </p:nvSpPr>
        <p:spPr>
          <a:xfrm>
            <a:off x="3981450" y="15020925"/>
            <a:ext cx="57150" cy="57150"/>
          </a:xfrm>
          <a:prstGeom prst="rect">
            <a:avLst/>
          </a:prstGeom>
          <a:solidFill>
            <a:srgbClr val="2A5C8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AAC4266-7B2A-4617-9F1D-4002B905862A}"/>
              </a:ext>
            </a:extLst>
          </p:cNvPr>
          <p:cNvSpPr>
            <a:spLocks noGrp="1"/>
          </p:cNvSpPr>
          <p:nvPr/>
        </p:nvSpPr>
        <p:spPr>
          <a:xfrm>
            <a:off x="4114800" y="1497330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UAT with 6 participants on Samsung Galaxy A54: T1/T2 100%, T3 83%, T5 67%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7CEEE1A-6785-4BCA-BB8D-C496BAEDDF4C}"/>
              </a:ext>
            </a:extLst>
          </p:cNvPr>
          <p:cNvSpPr>
            <a:spLocks noGrp="1"/>
          </p:cNvSpPr>
          <p:nvPr/>
        </p:nvSpPr>
        <p:spPr>
          <a:xfrm>
            <a:off x="3981450" y="15478125"/>
            <a:ext cx="57150" cy="5715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EEBA36F-7B58-4482-B8B0-F3D35BC839C0}"/>
              </a:ext>
            </a:extLst>
          </p:cNvPr>
          <p:cNvSpPr>
            <a:spLocks noGrp="1"/>
          </p:cNvSpPr>
          <p:nvPr/>
        </p:nvSpPr>
        <p:spPr>
          <a:xfrm>
            <a:off x="4114800" y="1543050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82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SUS mean 78.75; core flows tested for search, profile access, questionnaire, bookmarking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81CB415-0657-40C3-A9C5-F8B03F866D8C}"/>
              </a:ext>
            </a:extLst>
          </p:cNvPr>
          <p:cNvSpPr>
            <a:spLocks noGrp="1"/>
          </p:cNvSpPr>
          <p:nvPr/>
        </p:nvSpPr>
        <p:spPr>
          <a:xfrm>
            <a:off x="3752850" y="16287750"/>
            <a:ext cx="2819400" cy="400050"/>
          </a:xfrm>
          <a:prstGeom prst="rect">
            <a:avLst/>
          </a:prstGeom>
          <a:solidFill>
            <a:srgbClr val="EFFB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DF26D62-2223-4574-B861-EDB2D15A57B7}"/>
              </a:ext>
            </a:extLst>
          </p:cNvPr>
          <p:cNvSpPr>
            <a:spLocks noGrp="1"/>
          </p:cNvSpPr>
          <p:nvPr/>
        </p:nvSpPr>
        <p:spPr>
          <a:xfrm>
            <a:off x="3924300" y="16402050"/>
            <a:ext cx="2400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Questionnaire captures communication, cleanliness, professionalism, waiting time, empathy, comments, and anonymous review preference.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F63E315-9202-4DAF-9158-AAED6F2C6FD9}"/>
              </a:ext>
            </a:extLst>
          </p:cNvPr>
          <p:cNvSpPr>
            <a:spLocks noGrp="1"/>
          </p:cNvSpPr>
          <p:nvPr/>
        </p:nvSpPr>
        <p:spPr>
          <a:xfrm>
            <a:off x="7153275" y="2809875"/>
            <a:ext cx="2971800" cy="60960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2A3CCD2-07AE-4C15-A22E-B26FB723557A}"/>
              </a:ext>
            </a:extLst>
          </p:cNvPr>
          <p:cNvSpPr>
            <a:spLocks noGrp="1"/>
          </p:cNvSpPr>
          <p:nvPr/>
        </p:nvSpPr>
        <p:spPr>
          <a:xfrm>
            <a:off x="7086600" y="2724150"/>
            <a:ext cx="2971800" cy="609600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0B76700-CA7E-4077-9D39-B8FB5225E871}"/>
              </a:ext>
            </a:extLst>
          </p:cNvPr>
          <p:cNvSpPr>
            <a:spLocks noGrp="1"/>
          </p:cNvSpPr>
          <p:nvPr/>
        </p:nvSpPr>
        <p:spPr>
          <a:xfrm>
            <a:off x="7086600" y="2724150"/>
            <a:ext cx="297180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A9433F9-30EA-4527-B782-AB6D4C4F32A8}"/>
              </a:ext>
            </a:extLst>
          </p:cNvPr>
          <p:cNvSpPr>
            <a:spLocks noGrp="1"/>
          </p:cNvSpPr>
          <p:nvPr/>
        </p:nvSpPr>
        <p:spPr>
          <a:xfrm>
            <a:off x="7219950" y="2819400"/>
            <a:ext cx="2705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Interfaces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CA415C4-E3A2-4036-B43C-1FFA8097919E}"/>
              </a:ext>
            </a:extLst>
          </p:cNvPr>
          <p:cNvSpPr>
            <a:spLocks noGrp="1"/>
          </p:cNvSpPr>
          <p:nvPr/>
        </p:nvSpPr>
        <p:spPr>
          <a:xfrm>
            <a:off x="7467600" y="3552825"/>
            <a:ext cx="876300" cy="1897190"/>
          </a:xfrm>
          <a:prstGeom prst="rect">
            <a:avLst/>
          </a:prstGeom>
          <a:solidFill>
            <a:srgbClr val="000000">
              <a:alpha val="2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3112AEC-529E-4B8C-8AFC-B52ACB770EDD}"/>
              </a:ext>
            </a:extLst>
          </p:cNvPr>
          <p:cNvSpPr>
            <a:spLocks noGrp="1"/>
          </p:cNvSpPr>
          <p:nvPr/>
        </p:nvSpPr>
        <p:spPr>
          <a:xfrm>
            <a:off x="7372350" y="3429000"/>
            <a:ext cx="876300" cy="1897190"/>
          </a:xfrm>
          <a:prstGeom prst="rect">
            <a:avLst/>
          </a:prstGeom>
          <a:solidFill>
            <a:srgbClr val="051722"/>
          </a:solidFill>
          <a:ln w="11430">
            <a:solidFill>
              <a:srgbClr val="05172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0109F2E-D625-4916-9989-38D93231FC19}"/>
              </a:ext>
            </a:extLst>
          </p:cNvPr>
          <p:cNvSpPr>
            <a:spLocks noGrp="1"/>
          </p:cNvSpPr>
          <p:nvPr/>
        </p:nvSpPr>
        <p:spPr>
          <a:xfrm>
            <a:off x="7448550" y="3543300"/>
            <a:ext cx="723900" cy="1668590"/>
          </a:xfrm>
          <a:prstGeom prst="rect">
            <a:avLst/>
          </a:prstGeom>
          <a:solidFill>
            <a:srgbClr val="F9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77" name="Picture 176"/>
          <p:cNvPicPr>
            <a:picLocks noChangeAspect="1"/>
          </p:cNvPicPr>
          <p:nvPr/>
        </p:nvPicPr>
        <p:blipFill>
          <a:blip r:embed="rId11"/>
          <a:srcRect l="3053" r="3053"/>
          <a:stretch>
            <a:fillRect/>
          </a:stretch>
        </p:blipFill>
        <p:spPr>
          <a:xfrm>
            <a:off x="7448550" y="3543300"/>
            <a:ext cx="723900" cy="1668590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0553613D-E6EF-4969-9C59-45617CBBCED3}"/>
              </a:ext>
            </a:extLst>
          </p:cNvPr>
          <p:cNvSpPr>
            <a:spLocks noGrp="1"/>
          </p:cNvSpPr>
          <p:nvPr/>
        </p:nvSpPr>
        <p:spPr>
          <a:xfrm>
            <a:off x="7687818" y="3486150"/>
            <a:ext cx="245364" cy="38100"/>
          </a:xfrm>
          <a:prstGeom prst="rect">
            <a:avLst/>
          </a:prstGeom>
          <a:solidFill>
            <a:srgbClr val="D9D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B1BE072-6EA5-4A5F-B84E-377FB0C94174}"/>
              </a:ext>
            </a:extLst>
          </p:cNvPr>
          <p:cNvSpPr>
            <a:spLocks noGrp="1"/>
          </p:cNvSpPr>
          <p:nvPr/>
        </p:nvSpPr>
        <p:spPr>
          <a:xfrm>
            <a:off x="7429500" y="5402390"/>
            <a:ext cx="762000" cy="26670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A1F77ED-0AF2-4FCD-B8FD-5B1544682052}"/>
              </a:ext>
            </a:extLst>
          </p:cNvPr>
          <p:cNvSpPr>
            <a:spLocks noGrp="1"/>
          </p:cNvSpPr>
          <p:nvPr/>
        </p:nvSpPr>
        <p:spPr>
          <a:xfrm>
            <a:off x="7448550" y="5469065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Home / Discovery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18D919FB-08F1-4985-B07B-90B99E112A79}"/>
              </a:ext>
            </a:extLst>
          </p:cNvPr>
          <p:cNvSpPr>
            <a:spLocks noGrp="1"/>
          </p:cNvSpPr>
          <p:nvPr/>
        </p:nvSpPr>
        <p:spPr>
          <a:xfrm>
            <a:off x="8420100" y="3838575"/>
            <a:ext cx="876300" cy="1897190"/>
          </a:xfrm>
          <a:prstGeom prst="rect">
            <a:avLst/>
          </a:prstGeom>
          <a:solidFill>
            <a:srgbClr val="000000">
              <a:alpha val="2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01A979A-92DC-41AE-809A-6D0C937C110B}"/>
              </a:ext>
            </a:extLst>
          </p:cNvPr>
          <p:cNvSpPr>
            <a:spLocks noGrp="1"/>
          </p:cNvSpPr>
          <p:nvPr/>
        </p:nvSpPr>
        <p:spPr>
          <a:xfrm>
            <a:off x="8324850" y="3714750"/>
            <a:ext cx="876300" cy="1897190"/>
          </a:xfrm>
          <a:prstGeom prst="rect">
            <a:avLst/>
          </a:prstGeom>
          <a:solidFill>
            <a:srgbClr val="051722"/>
          </a:solidFill>
          <a:ln w="11430">
            <a:solidFill>
              <a:srgbClr val="05172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07E3925-3F74-4F44-93D8-C5FEAADEA022}"/>
              </a:ext>
            </a:extLst>
          </p:cNvPr>
          <p:cNvSpPr>
            <a:spLocks noGrp="1"/>
          </p:cNvSpPr>
          <p:nvPr/>
        </p:nvSpPr>
        <p:spPr>
          <a:xfrm>
            <a:off x="8401050" y="3829050"/>
            <a:ext cx="723900" cy="1668590"/>
          </a:xfrm>
          <a:prstGeom prst="rect">
            <a:avLst/>
          </a:prstGeom>
          <a:solidFill>
            <a:srgbClr val="F9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84" name="Picture 183"/>
          <p:cNvPicPr>
            <a:picLocks noChangeAspect="1"/>
          </p:cNvPicPr>
          <p:nvPr/>
        </p:nvPicPr>
        <p:blipFill>
          <a:blip r:embed="rId12"/>
          <a:srcRect l="3053" r="3053"/>
          <a:stretch>
            <a:fillRect/>
          </a:stretch>
        </p:blipFill>
        <p:spPr>
          <a:xfrm>
            <a:off x="8401050" y="3829050"/>
            <a:ext cx="723900" cy="1668590"/>
          </a:xfrm>
          <a:prstGeom prst="rect">
            <a:avLst/>
          </a:prstGeom>
        </p:spPr>
      </p:pic>
      <p:sp>
        <p:nvSpPr>
          <p:cNvPr id="185" name="Rectangle 184">
            <a:extLst>
              <a:ext uri="{FF2B5EF4-FFF2-40B4-BE49-F238E27FC236}">
                <a16:creationId xmlns:a16="http://schemas.microsoft.com/office/drawing/2014/main" id="{CEB80E7B-D96C-4841-A7D9-6C4C1982D99A}"/>
              </a:ext>
            </a:extLst>
          </p:cNvPr>
          <p:cNvSpPr>
            <a:spLocks noGrp="1"/>
          </p:cNvSpPr>
          <p:nvPr/>
        </p:nvSpPr>
        <p:spPr>
          <a:xfrm>
            <a:off x="8640318" y="3771900"/>
            <a:ext cx="245364" cy="38100"/>
          </a:xfrm>
          <a:prstGeom prst="rect">
            <a:avLst/>
          </a:prstGeom>
          <a:solidFill>
            <a:srgbClr val="D9D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2AC142E-28E2-4B74-AAD6-70A8994B815F}"/>
              </a:ext>
            </a:extLst>
          </p:cNvPr>
          <p:cNvSpPr>
            <a:spLocks noGrp="1"/>
          </p:cNvSpPr>
          <p:nvPr/>
        </p:nvSpPr>
        <p:spPr>
          <a:xfrm>
            <a:off x="8382000" y="5688140"/>
            <a:ext cx="762000" cy="26670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D72EB6E-B4BF-4D47-AC09-D35FD9626C37}"/>
              </a:ext>
            </a:extLst>
          </p:cNvPr>
          <p:cNvSpPr>
            <a:spLocks noGrp="1"/>
          </p:cNvSpPr>
          <p:nvPr/>
        </p:nvSpPr>
        <p:spPr>
          <a:xfrm>
            <a:off x="8401050" y="5754815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Form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82619A7-E5DB-4A85-A319-F6E61BCB57A2}"/>
              </a:ext>
            </a:extLst>
          </p:cNvPr>
          <p:cNvSpPr>
            <a:spLocks noGrp="1"/>
          </p:cNvSpPr>
          <p:nvPr/>
        </p:nvSpPr>
        <p:spPr>
          <a:xfrm>
            <a:off x="9086850" y="3552825"/>
            <a:ext cx="876300" cy="1897190"/>
          </a:xfrm>
          <a:prstGeom prst="rect">
            <a:avLst/>
          </a:prstGeom>
          <a:solidFill>
            <a:srgbClr val="000000">
              <a:alpha val="21961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DD6574B-A3D6-4D5E-A333-0337BCE75AAE}"/>
              </a:ext>
            </a:extLst>
          </p:cNvPr>
          <p:cNvSpPr>
            <a:spLocks noGrp="1"/>
          </p:cNvSpPr>
          <p:nvPr/>
        </p:nvSpPr>
        <p:spPr>
          <a:xfrm>
            <a:off x="8991600" y="3429000"/>
            <a:ext cx="876300" cy="1897190"/>
          </a:xfrm>
          <a:prstGeom prst="rect">
            <a:avLst/>
          </a:prstGeom>
          <a:solidFill>
            <a:srgbClr val="051722"/>
          </a:solidFill>
          <a:ln w="11430">
            <a:solidFill>
              <a:srgbClr val="05172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CC3ADA34-5054-427E-B5C4-F7D29F4EFF88}"/>
              </a:ext>
            </a:extLst>
          </p:cNvPr>
          <p:cNvSpPr>
            <a:spLocks noGrp="1"/>
          </p:cNvSpPr>
          <p:nvPr/>
        </p:nvSpPr>
        <p:spPr>
          <a:xfrm>
            <a:off x="9067800" y="3543300"/>
            <a:ext cx="723900" cy="1668590"/>
          </a:xfrm>
          <a:prstGeom prst="rect">
            <a:avLst/>
          </a:prstGeom>
          <a:solidFill>
            <a:srgbClr val="F9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191" name="Picture 190"/>
          <p:cNvPicPr>
            <a:picLocks noChangeAspect="1"/>
          </p:cNvPicPr>
          <p:nvPr/>
        </p:nvPicPr>
        <p:blipFill>
          <a:blip r:embed="rId13"/>
          <a:srcRect l="3053" r="3053"/>
          <a:stretch>
            <a:fillRect/>
          </a:stretch>
        </p:blipFill>
        <p:spPr>
          <a:xfrm>
            <a:off x="9067800" y="3543300"/>
            <a:ext cx="723900" cy="1668590"/>
          </a:xfrm>
          <a:prstGeom prst="rect">
            <a:avLst/>
          </a:prstGeom>
        </p:spPr>
      </p:pic>
      <p:sp>
        <p:nvSpPr>
          <p:cNvPr id="192" name="Rectangle 191">
            <a:extLst>
              <a:ext uri="{FF2B5EF4-FFF2-40B4-BE49-F238E27FC236}">
                <a16:creationId xmlns:a16="http://schemas.microsoft.com/office/drawing/2014/main" id="{CE95160F-488C-4C5B-9F3C-4BD28B8CF455}"/>
              </a:ext>
            </a:extLst>
          </p:cNvPr>
          <p:cNvSpPr>
            <a:spLocks noGrp="1"/>
          </p:cNvSpPr>
          <p:nvPr/>
        </p:nvSpPr>
        <p:spPr>
          <a:xfrm>
            <a:off x="9307068" y="3486150"/>
            <a:ext cx="245364" cy="38100"/>
          </a:xfrm>
          <a:prstGeom prst="rect">
            <a:avLst/>
          </a:prstGeom>
          <a:solidFill>
            <a:srgbClr val="D9DA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8DBA6356-2813-4C07-AD66-D7B987F8D062}"/>
              </a:ext>
            </a:extLst>
          </p:cNvPr>
          <p:cNvSpPr>
            <a:spLocks noGrp="1"/>
          </p:cNvSpPr>
          <p:nvPr/>
        </p:nvSpPr>
        <p:spPr>
          <a:xfrm>
            <a:off x="9048750" y="5402390"/>
            <a:ext cx="762000" cy="266700"/>
          </a:xfrm>
          <a:prstGeom prst="rect">
            <a:avLst/>
          </a:prstGeom>
          <a:solidFill>
            <a:srgbClr val="765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26E4D5E-8E94-4DBF-9D3E-28377EC080E9}"/>
              </a:ext>
            </a:extLst>
          </p:cNvPr>
          <p:cNvSpPr>
            <a:spLocks noGrp="1"/>
          </p:cNvSpPr>
          <p:nvPr/>
        </p:nvSpPr>
        <p:spPr>
          <a:xfrm>
            <a:off x="9067800" y="5469065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54E485C6-C26C-44BB-93B2-1238BB08C38E}"/>
              </a:ext>
            </a:extLst>
          </p:cNvPr>
          <p:cNvSpPr>
            <a:spLocks noGrp="1"/>
          </p:cNvSpPr>
          <p:nvPr/>
        </p:nvSpPr>
        <p:spPr>
          <a:xfrm>
            <a:off x="7315200" y="6115050"/>
            <a:ext cx="2419350" cy="1219200"/>
          </a:xfrm>
          <a:prstGeom prst="rect">
            <a:avLst/>
          </a:prstGeom>
          <a:solidFill>
            <a:srgbClr val="F4F8FB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6EDF37E8-D765-4C54-A586-D78C1E02DDEB}"/>
              </a:ext>
            </a:extLst>
          </p:cNvPr>
          <p:cNvSpPr>
            <a:spLocks noGrp="1"/>
          </p:cNvSpPr>
          <p:nvPr/>
        </p:nvSpPr>
        <p:spPr>
          <a:xfrm>
            <a:off x="7467600" y="62865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Implemented mobile flows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12E3D37-30E7-483E-A66A-F1BA670393BF}"/>
              </a:ext>
            </a:extLst>
          </p:cNvPr>
          <p:cNvSpPr>
            <a:spLocks noGrp="1"/>
          </p:cNvSpPr>
          <p:nvPr/>
        </p:nvSpPr>
        <p:spPr>
          <a:xfrm>
            <a:off x="7505700" y="663892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720148D-DDE8-4295-85D0-73C3EF3FDCF2}"/>
              </a:ext>
            </a:extLst>
          </p:cNvPr>
          <p:cNvSpPr>
            <a:spLocks noGrp="1"/>
          </p:cNvSpPr>
          <p:nvPr/>
        </p:nvSpPr>
        <p:spPr>
          <a:xfrm>
            <a:off x="7639050" y="65913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secure login, profile management, and role-aware navigation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4DF23AEF-7E3C-418D-BB93-F4A7761CA0B0}"/>
              </a:ext>
            </a:extLst>
          </p:cNvPr>
          <p:cNvSpPr>
            <a:spLocks noGrp="1"/>
          </p:cNvSpPr>
          <p:nvPr/>
        </p:nvSpPr>
        <p:spPr>
          <a:xfrm>
            <a:off x="7505700" y="6905625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A2CB034E-B07E-4391-9761-8A5AC0AF04C0}"/>
              </a:ext>
            </a:extLst>
          </p:cNvPr>
          <p:cNvSpPr>
            <a:spLocks noGrp="1"/>
          </p:cNvSpPr>
          <p:nvPr/>
        </p:nvSpPr>
        <p:spPr>
          <a:xfrm>
            <a:off x="7639050" y="68580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search by name, specialty, provider category, and location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09847D3-D172-4AE3-9A08-00DD556EB7D4}"/>
              </a:ext>
            </a:extLst>
          </p:cNvPr>
          <p:cNvSpPr>
            <a:spLocks noGrp="1"/>
          </p:cNvSpPr>
          <p:nvPr/>
        </p:nvSpPr>
        <p:spPr>
          <a:xfrm>
            <a:off x="7505700" y="7172325"/>
            <a:ext cx="57150" cy="57150"/>
          </a:xfrm>
          <a:prstGeom prst="rect">
            <a:avLst/>
          </a:prstGeom>
          <a:solidFill>
            <a:srgbClr val="7651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C4A91B4-62C1-4036-B979-CE65462B1073}"/>
              </a:ext>
            </a:extLst>
          </p:cNvPr>
          <p:cNvSpPr>
            <a:spLocks noGrp="1"/>
          </p:cNvSpPr>
          <p:nvPr/>
        </p:nvSpPr>
        <p:spPr>
          <a:xfrm>
            <a:off x="7639050" y="71247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structured review form, star rating, anonymity option, analytics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B248C691-5A9A-4237-A780-73E35915883F}"/>
              </a:ext>
            </a:extLst>
          </p:cNvPr>
          <p:cNvSpPr>
            <a:spLocks noGrp="1"/>
          </p:cNvSpPr>
          <p:nvPr/>
        </p:nvSpPr>
        <p:spPr>
          <a:xfrm>
            <a:off x="7315200" y="7486650"/>
            <a:ext cx="2419350" cy="838200"/>
          </a:xfrm>
          <a:prstGeom prst="rect">
            <a:avLst/>
          </a:prstGeom>
          <a:solidFill>
            <a:srgbClr val="EFFB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2711643-36E2-4A72-85A1-51C9ACF09C04}"/>
              </a:ext>
            </a:extLst>
          </p:cNvPr>
          <p:cNvSpPr>
            <a:spLocks noGrp="1"/>
          </p:cNvSpPr>
          <p:nvPr/>
        </p:nvSpPr>
        <p:spPr>
          <a:xfrm>
            <a:off x="7467600" y="76581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Interface principle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7A686C5-2C6C-490B-9821-1814365AD74B}"/>
              </a:ext>
            </a:extLst>
          </p:cNvPr>
          <p:cNvSpPr>
            <a:spLocks noGrp="1"/>
          </p:cNvSpPr>
          <p:nvPr/>
        </p:nvSpPr>
        <p:spPr>
          <a:xfrm>
            <a:off x="7467600" y="79248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3" b="0">
                <a:solidFill>
                  <a:srgbClr val="46515D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46515D"/>
                </a:solidFill>
                <a:latin typeface="Aptos"/>
                <a:ea typeface="Aptos"/>
                <a:cs typeface="Aptos"/>
              </a:rPr>
              <a:t>Simple, modern, mobile-first screens designed for low-friction provider discovery and guided feedback entry after a visit.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D822D41-487D-4665-B3FF-E9AB8716D605}"/>
              </a:ext>
            </a:extLst>
          </p:cNvPr>
          <p:cNvSpPr>
            <a:spLocks noGrp="1"/>
          </p:cNvSpPr>
          <p:nvPr/>
        </p:nvSpPr>
        <p:spPr>
          <a:xfrm>
            <a:off x="7153275" y="9229725"/>
            <a:ext cx="2971800" cy="260985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249512E-5E48-4E69-8750-400E70468DB5}"/>
              </a:ext>
            </a:extLst>
          </p:cNvPr>
          <p:cNvSpPr>
            <a:spLocks noGrp="1"/>
          </p:cNvSpPr>
          <p:nvPr/>
        </p:nvSpPr>
        <p:spPr>
          <a:xfrm>
            <a:off x="7086600" y="9144000"/>
            <a:ext cx="2971800" cy="260985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9F5FCE0F-C6E8-4CDF-A3C4-73BA79DD6B6F}"/>
              </a:ext>
            </a:extLst>
          </p:cNvPr>
          <p:cNvSpPr>
            <a:spLocks noGrp="1"/>
          </p:cNvSpPr>
          <p:nvPr/>
        </p:nvSpPr>
        <p:spPr>
          <a:xfrm>
            <a:off x="7086600" y="9144000"/>
            <a:ext cx="297180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021EA789-5DCC-49A5-B2A8-C3D89D71694D}"/>
              </a:ext>
            </a:extLst>
          </p:cNvPr>
          <p:cNvSpPr>
            <a:spLocks noGrp="1"/>
          </p:cNvSpPr>
          <p:nvPr/>
        </p:nvSpPr>
        <p:spPr>
          <a:xfrm>
            <a:off x="7219950" y="9239250"/>
            <a:ext cx="2705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A97EDA8-0799-4225-B3CA-5F5B518679E2}"/>
              </a:ext>
            </a:extLst>
          </p:cNvPr>
          <p:cNvSpPr>
            <a:spLocks noGrp="1"/>
          </p:cNvSpPr>
          <p:nvPr/>
        </p:nvSpPr>
        <p:spPr>
          <a:xfrm>
            <a:off x="7315200" y="9810750"/>
            <a:ext cx="2362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DRAPO achieved its primary goal: a scalable patient-centered platform that combines mobile access, cloud backend infrastructure, and weighted service-quality evaluation.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E664BD4E-19F6-4C57-AB22-F5C4B64FD670}"/>
              </a:ext>
            </a:extLst>
          </p:cNvPr>
          <p:cNvSpPr>
            <a:spLocks noGrp="1"/>
          </p:cNvSpPr>
          <p:nvPr/>
        </p:nvSpPr>
        <p:spPr>
          <a:xfrm>
            <a:off x="7353300" y="1052512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FF0D674-B416-4871-8186-30AF4CD3ADA6}"/>
              </a:ext>
            </a:extLst>
          </p:cNvPr>
          <p:cNvSpPr>
            <a:spLocks noGrp="1"/>
          </p:cNvSpPr>
          <p:nvPr/>
        </p:nvSpPr>
        <p:spPr>
          <a:xfrm>
            <a:off x="7486650" y="104775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patients gain clearer non-clinical comparison signals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B7F8249-30F7-4277-BA0C-FAB324476E28}"/>
              </a:ext>
            </a:extLst>
          </p:cNvPr>
          <p:cNvSpPr>
            <a:spLocks noGrp="1"/>
          </p:cNvSpPr>
          <p:nvPr/>
        </p:nvSpPr>
        <p:spPr>
          <a:xfrm>
            <a:off x="7353300" y="10829925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FADD0BF-CF40-499D-AC06-AB0087ECD074}"/>
              </a:ext>
            </a:extLst>
          </p:cNvPr>
          <p:cNvSpPr>
            <a:spLocks noGrp="1"/>
          </p:cNvSpPr>
          <p:nvPr/>
        </p:nvSpPr>
        <p:spPr>
          <a:xfrm>
            <a:off x="7486650" y="107823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providers gain structured feedback for improvement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5FEA2FF-7427-456C-8B9E-82168C3CCEA8}"/>
              </a:ext>
            </a:extLst>
          </p:cNvPr>
          <p:cNvSpPr>
            <a:spLocks noGrp="1"/>
          </p:cNvSpPr>
          <p:nvPr/>
        </p:nvSpPr>
        <p:spPr>
          <a:xfrm>
            <a:off x="7353300" y="11134725"/>
            <a:ext cx="57150" cy="5715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3F49C20-6CAE-4A36-994E-377D20E00F86}"/>
              </a:ext>
            </a:extLst>
          </p:cNvPr>
          <p:cNvSpPr>
            <a:spLocks noGrp="1"/>
          </p:cNvSpPr>
          <p:nvPr/>
        </p:nvSpPr>
        <p:spPr>
          <a:xfrm>
            <a:off x="7486650" y="110871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future: appointments, AI fraud detection, advanced analytics, larger provider database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0977562-70DC-4996-812F-BA9BC037C8A5}"/>
              </a:ext>
            </a:extLst>
          </p:cNvPr>
          <p:cNvSpPr>
            <a:spLocks noGrp="1"/>
          </p:cNvSpPr>
          <p:nvPr/>
        </p:nvSpPr>
        <p:spPr>
          <a:xfrm>
            <a:off x="7153275" y="12201525"/>
            <a:ext cx="2971800" cy="476250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D956973-3945-4230-BD2A-C2FEDD3CBF91}"/>
              </a:ext>
            </a:extLst>
          </p:cNvPr>
          <p:cNvSpPr>
            <a:spLocks noGrp="1"/>
          </p:cNvSpPr>
          <p:nvPr/>
        </p:nvSpPr>
        <p:spPr>
          <a:xfrm>
            <a:off x="7086600" y="12115800"/>
            <a:ext cx="2971800" cy="4762500"/>
          </a:xfrm>
          <a:prstGeom prst="rect">
            <a:avLst/>
          </a:prstGeom>
          <a:solidFill>
            <a:srgbClr val="FBFCFD"/>
          </a:solidFill>
          <a:ln w="11430">
            <a:solidFill>
              <a:srgbClr val="A904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4A39265-05BE-482D-8EDC-0DC8269481A5}"/>
              </a:ext>
            </a:extLst>
          </p:cNvPr>
          <p:cNvSpPr>
            <a:spLocks noGrp="1"/>
          </p:cNvSpPr>
          <p:nvPr/>
        </p:nvSpPr>
        <p:spPr>
          <a:xfrm>
            <a:off x="7086600" y="12115800"/>
            <a:ext cx="2971800" cy="419100"/>
          </a:xfrm>
          <a:prstGeom prst="rect">
            <a:avLst/>
          </a:prstGeom>
          <a:solidFill>
            <a:srgbClr val="A904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A10F39B6-6B1E-4BDF-86B5-9D235A875C4E}"/>
              </a:ext>
            </a:extLst>
          </p:cNvPr>
          <p:cNvSpPr>
            <a:spLocks noGrp="1"/>
          </p:cNvSpPr>
          <p:nvPr/>
        </p:nvSpPr>
        <p:spPr>
          <a:xfrm>
            <a:off x="7219950" y="12211050"/>
            <a:ext cx="2705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1289A6C-1870-4D6E-A7B6-3AFB5637BB32}"/>
              </a:ext>
            </a:extLst>
          </p:cNvPr>
          <p:cNvSpPr>
            <a:spLocks noGrp="1"/>
          </p:cNvSpPr>
          <p:nvPr/>
        </p:nvSpPr>
        <p:spPr>
          <a:xfrm>
            <a:off x="7296150" y="1281112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2E1252C-5D60-4300-8E8D-B6EF18CE7BA0}"/>
              </a:ext>
            </a:extLst>
          </p:cNvPr>
          <p:cNvSpPr>
            <a:spLocks noGrp="1"/>
          </p:cNvSpPr>
          <p:nvPr/>
        </p:nvSpPr>
        <p:spPr>
          <a:xfrm>
            <a:off x="7429500" y="1276350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Final Project Report — team, objectives,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metrics,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3037652-1ACA-4AD8-96DF-21030C2EE099}"/>
              </a:ext>
            </a:extLst>
          </p:cNvPr>
          <p:cNvSpPr>
            <a:spLocks noGrp="1"/>
          </p:cNvSpPr>
          <p:nvPr/>
        </p:nvSpPr>
        <p:spPr>
          <a:xfrm>
            <a:off x="7296150" y="13201650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0D11AE-CEE3-43B2-BEF2-993FA6F78387}"/>
              </a:ext>
            </a:extLst>
          </p:cNvPr>
          <p:cNvSpPr>
            <a:spLocks noGrp="1"/>
          </p:cNvSpPr>
          <p:nvPr/>
        </p:nvSpPr>
        <p:spPr>
          <a:xfrm>
            <a:off x="7429500" y="13154025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WHO (2023) — digital health transformation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context.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4AEBFF14-8A99-4360-BA04-EFE663639084}"/>
              </a:ext>
            </a:extLst>
          </p:cNvPr>
          <p:cNvSpPr>
            <a:spLocks noGrp="1"/>
          </p:cNvSpPr>
          <p:nvPr/>
        </p:nvSpPr>
        <p:spPr>
          <a:xfrm>
            <a:off x="7296150" y="1359217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DC86ED6A-20D6-4E97-93F5-F32F4F2B3F97}"/>
              </a:ext>
            </a:extLst>
          </p:cNvPr>
          <p:cNvSpPr>
            <a:spLocks noGrp="1"/>
          </p:cNvSpPr>
          <p:nvPr/>
        </p:nvSpPr>
        <p:spPr>
          <a:xfrm>
            <a:off x="7429500" y="1354455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Liu &amp; Jiang (2021) — communication quality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and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658401ED-FFD0-4632-956C-A4CF25AFFE28}"/>
              </a:ext>
            </a:extLst>
          </p:cNvPr>
          <p:cNvSpPr>
            <a:spLocks noGrp="1"/>
          </p:cNvSpPr>
          <p:nvPr/>
        </p:nvSpPr>
        <p:spPr>
          <a:xfrm>
            <a:off x="7296150" y="13982700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9C379CD0-13E2-40E1-A520-282185F4CC0E}"/>
              </a:ext>
            </a:extLst>
          </p:cNvPr>
          <p:cNvSpPr>
            <a:spLocks noGrp="1"/>
          </p:cNvSpPr>
          <p:nvPr/>
        </p:nvSpPr>
        <p:spPr>
          <a:xfrm>
            <a:off x="7429500" y="13935075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Al Awadh (2022) — multi-criteria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healthcare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2C18A615-42ED-41A4-93E6-25238F7D7628}"/>
              </a:ext>
            </a:extLst>
          </p:cNvPr>
          <p:cNvSpPr>
            <a:spLocks noGrp="1"/>
          </p:cNvSpPr>
          <p:nvPr/>
        </p:nvSpPr>
        <p:spPr>
          <a:xfrm>
            <a:off x="7296150" y="1437322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EC1B122-ECCB-4D01-9351-013B5A8B9BDD}"/>
              </a:ext>
            </a:extLst>
          </p:cNvPr>
          <p:cNvSpPr>
            <a:spLocks noGrp="1"/>
          </p:cNvSpPr>
          <p:nvPr/>
        </p:nvSpPr>
        <p:spPr>
          <a:xfrm>
            <a:off x="7429500" y="1432560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Fentaw (2020); Zarichuk (2023) —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cross-platform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878468D-05D7-4AAB-A0C3-311E41B93E8B}"/>
              </a:ext>
            </a:extLst>
          </p:cNvPr>
          <p:cNvSpPr>
            <a:spLocks noGrp="1"/>
          </p:cNvSpPr>
          <p:nvPr/>
        </p:nvSpPr>
        <p:spPr>
          <a:xfrm>
            <a:off x="7296150" y="14763750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67C8F12-5197-4028-96E0-1B00E89B3DB3}"/>
              </a:ext>
            </a:extLst>
          </p:cNvPr>
          <p:cNvSpPr>
            <a:spLocks noGrp="1"/>
          </p:cNvSpPr>
          <p:nvPr/>
        </p:nvSpPr>
        <p:spPr>
          <a:xfrm>
            <a:off x="7429500" y="14716125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Valkamo (2025) — mHealth and real-time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7458B9A2-8B1B-4AAE-B229-D9555D8CF4F4}"/>
              </a:ext>
            </a:extLst>
          </p:cNvPr>
          <p:cNvSpPr>
            <a:spLocks noGrp="1"/>
          </p:cNvSpPr>
          <p:nvPr/>
        </p:nvSpPr>
        <p:spPr>
          <a:xfrm>
            <a:off x="7296150" y="15154275"/>
            <a:ext cx="57150" cy="57150"/>
          </a:xfrm>
          <a:prstGeom prst="rect">
            <a:avLst/>
          </a:prstGeom>
          <a:solidFill>
            <a:srgbClr val="0744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3D81356C-6D1E-4245-95DE-1AFFDC9C076E}"/>
              </a:ext>
            </a:extLst>
          </p:cNvPr>
          <p:cNvSpPr>
            <a:spLocks noGrp="1"/>
          </p:cNvSpPr>
          <p:nvPr/>
        </p:nvSpPr>
        <p:spPr>
          <a:xfrm>
            <a:off x="7429500" y="1510665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README.md / TEST_REPORT.md —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FD6D11E-F54B-46AF-B626-481E12D7712C}"/>
              </a:ext>
            </a:extLst>
          </p:cNvPr>
          <p:cNvSpPr>
            <a:spLocks noGrp="1"/>
          </p:cNvSpPr>
          <p:nvPr/>
        </p:nvSpPr>
        <p:spPr>
          <a:xfrm>
            <a:off x="7296150" y="15544800"/>
            <a:ext cx="57150" cy="57150"/>
          </a:xfrm>
          <a:prstGeom prst="rect">
            <a:avLst/>
          </a:prstGeom>
          <a:solidFill>
            <a:srgbClr val="006A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9CF4781-20EB-4CC9-9B16-BF63EE3C63D3}"/>
              </a:ext>
            </a:extLst>
          </p:cNvPr>
          <p:cNvSpPr>
            <a:spLocks noGrp="1"/>
          </p:cNvSpPr>
          <p:nvPr/>
        </p:nvSpPr>
        <p:spPr>
          <a:xfrm>
            <a:off x="7429500" y="15497175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aggregation.js / firestore.rules —</a:t>
            </a:r>
          </a:p>
          <a:p>
            <a:pPr algn="l">
              <a:defRPr sz="630" b="0">
                <a:solidFill>
                  <a:srgbClr val="12181F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181F"/>
                </a:solidFill>
                <a:latin typeface="Aptos"/>
                <a:ea typeface="Aptos"/>
                <a:cs typeface="Aptos"/>
              </a:rPr>
              <a:t>weighted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EEEE34C1-D2F1-431F-9805-F6087D17A0DB}"/>
              </a:ext>
            </a:extLst>
          </p:cNvPr>
          <p:cNvSpPr>
            <a:spLocks noGrp="1"/>
          </p:cNvSpPr>
          <p:nvPr/>
        </p:nvSpPr>
        <p:spPr>
          <a:xfrm>
            <a:off x="304800" y="17240250"/>
            <a:ext cx="9696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D7E7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7E7FF"/>
                </a:solidFill>
                <a:latin typeface="Aptos"/>
                <a:ea typeface="Aptos"/>
                <a:cs typeface="Aptos"/>
              </a:rPr>
              <a:t>2025-26 Spring | DRAPO Dev Team | Patient-centered healthcare service transparency through structured feedback and weighted rankings</a:t>
            </a:r>
          </a:p>
        </p:txBody>
      </p:sp>
    </p:spTree>
    <p:extLst>
      <p:ext uri="{BB962C8B-B14F-4D97-AF65-F5344CB8AC3E}">
        <p14:creationId xmlns:p14="http://schemas.microsoft.com/office/powerpoint/2010/main" val="11157976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Macintosh PowerPoint</Application>
  <DocSecurity>0</DocSecurity>
  <PresentationFormat>Custom</PresentationFormat>
  <Paragraphs>121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Nasser Ali̇ HAIDAR</cp:lastModifiedBy>
  <cp:revision>1</cp:revision>
  <dcterms:created xsi:type="dcterms:W3CDTF">2026-06-05T15:03:54Z</dcterms:created>
  <dcterms:modified xsi:type="dcterms:W3CDTF">2026-06-05T15:16:09Z</dcterms:modified>
</cp:coreProperties>
</file>